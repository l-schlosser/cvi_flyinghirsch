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sldIdLst>
    <p:sldId id="256" r:id="rId5"/>
    <p:sldId id="258" r:id="rId6"/>
    <p:sldId id="260" r:id="rId7"/>
    <p:sldId id="263" r:id="rId8"/>
    <p:sldId id="277" r:id="rId9"/>
    <p:sldId id="278" r:id="rId10"/>
    <p:sldId id="279" r:id="rId11"/>
    <p:sldId id="298" r:id="rId12"/>
    <p:sldId id="268" r:id="rId13"/>
    <p:sldId id="274" r:id="rId14"/>
    <p:sldId id="299" r:id="rId15"/>
    <p:sldId id="269" r:id="rId16"/>
    <p:sldId id="257" r:id="rId17"/>
    <p:sldId id="302" r:id="rId18"/>
    <p:sldId id="287" r:id="rId19"/>
    <p:sldId id="301" r:id="rId20"/>
    <p:sldId id="271" r:id="rId21"/>
    <p:sldId id="290" r:id="rId22"/>
    <p:sldId id="300" r:id="rId23"/>
    <p:sldId id="296" r:id="rId24"/>
    <p:sldId id="292" r:id="rId25"/>
    <p:sldId id="297" r:id="rId26"/>
    <p:sldId id="289" r:id="rId27"/>
    <p:sldId id="293" r:id="rId28"/>
    <p:sldId id="295" r:id="rId29"/>
    <p:sldId id="286" r:id="rId30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68"/>
    <a:srgbClr val="12FC39"/>
    <a:srgbClr val="D47706"/>
    <a:srgbClr val="E95F3F"/>
    <a:srgbClr val="D23B18"/>
    <a:srgbClr val="F0F513"/>
    <a:srgbClr val="F88B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DEB63E-A3D7-46BB-A8A2-60C9143621F2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2A64A24-8DD0-4E15-B4FD-EF94AD745F49}">
      <dgm:prSet/>
      <dgm:spPr/>
      <dgm:t>
        <a:bodyPr/>
        <a:lstStyle/>
        <a:p>
          <a:pPr algn="ctr"/>
          <a:r>
            <a:rPr lang="en-GB"/>
            <a:t>Take the raw dataset and train without preprocessing with YOLO11</a:t>
          </a:r>
          <a:endParaRPr lang="en-US"/>
        </a:p>
      </dgm:t>
    </dgm:pt>
    <dgm:pt modelId="{B74729A8-3F8B-4752-982E-D81582694CBA}" type="parTrans" cxnId="{969FD049-6B9C-4633-9B64-7B3972C2D448}">
      <dgm:prSet/>
      <dgm:spPr/>
      <dgm:t>
        <a:bodyPr/>
        <a:lstStyle/>
        <a:p>
          <a:endParaRPr lang="en-US"/>
        </a:p>
      </dgm:t>
    </dgm:pt>
    <dgm:pt modelId="{714B32DC-784B-4D53-91EB-6F9AB4864D51}" type="sibTrans" cxnId="{969FD049-6B9C-4633-9B64-7B3972C2D44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D48D8F7-BD89-4343-B6D9-7EA2499DFE77}">
      <dgm:prSet/>
      <dgm:spPr/>
      <dgm:t>
        <a:bodyPr/>
        <a:lstStyle/>
        <a:p>
          <a:pPr algn="ctr"/>
          <a:r>
            <a:rPr lang="en-GB"/>
            <a:t>Changed to YOLO26 Model</a:t>
          </a:r>
          <a:endParaRPr lang="en-US"/>
        </a:p>
      </dgm:t>
    </dgm:pt>
    <dgm:pt modelId="{56A02232-AC7F-49BD-B9F7-49379EEF9490}" type="parTrans" cxnId="{1E65CE79-0D57-4141-BAAD-0D92F170763C}">
      <dgm:prSet/>
      <dgm:spPr/>
      <dgm:t>
        <a:bodyPr/>
        <a:lstStyle/>
        <a:p>
          <a:endParaRPr lang="en-US"/>
        </a:p>
      </dgm:t>
    </dgm:pt>
    <dgm:pt modelId="{8C13E437-8176-467F-AFF2-A858A5606CE1}" type="sibTrans" cxnId="{1E65CE79-0D57-4141-BAAD-0D92F170763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803103C-A9B9-41E8-B07F-29A0503C910E}">
      <dgm:prSet/>
      <dgm:spPr/>
      <dgm:t>
        <a:bodyPr/>
        <a:lstStyle/>
        <a:p>
          <a:pPr algn="ctr"/>
          <a:r>
            <a:rPr lang="en-GB"/>
            <a:t>Preprocess and remove blurry images</a:t>
          </a:r>
          <a:endParaRPr lang="en-US"/>
        </a:p>
      </dgm:t>
    </dgm:pt>
    <dgm:pt modelId="{485BB43B-039F-469A-BB67-53D3C1E9D6A1}" type="parTrans" cxnId="{12C53AB2-9EAA-4D8D-94FD-64C1F58170F3}">
      <dgm:prSet/>
      <dgm:spPr/>
      <dgm:t>
        <a:bodyPr/>
        <a:lstStyle/>
        <a:p>
          <a:endParaRPr lang="en-US"/>
        </a:p>
      </dgm:t>
    </dgm:pt>
    <dgm:pt modelId="{D9D0E618-1D96-4FB9-906E-59B14B56373B}" type="sibTrans" cxnId="{12C53AB2-9EAA-4D8D-94FD-64C1F58170F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1284C19-79CA-405D-835B-4350391299ED}">
      <dgm:prSet/>
      <dgm:spPr/>
      <dgm:t>
        <a:bodyPr/>
        <a:lstStyle/>
        <a:p>
          <a:pPr algn="ctr"/>
          <a:r>
            <a:rPr lang="en-GB"/>
            <a:t>Limit to classes with enough data (from 12 to 8 classes)</a:t>
          </a:r>
          <a:endParaRPr lang="en-US"/>
        </a:p>
      </dgm:t>
    </dgm:pt>
    <dgm:pt modelId="{BB106A8F-0018-4129-95EC-A4A4CF924F6E}" type="parTrans" cxnId="{7748CE65-095B-44E7-88AC-9E1A20CB06AC}">
      <dgm:prSet/>
      <dgm:spPr/>
      <dgm:t>
        <a:bodyPr/>
        <a:lstStyle/>
        <a:p>
          <a:endParaRPr lang="en-US"/>
        </a:p>
      </dgm:t>
    </dgm:pt>
    <dgm:pt modelId="{AF933676-7ADA-4FD2-A772-A5D514EDF941}" type="sibTrans" cxnId="{7748CE65-095B-44E7-88AC-9E1A20CB06A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4A640F4F-EE05-466D-AE47-F42A0530632C}">
      <dgm:prSet/>
      <dgm:spPr/>
      <dgm:t>
        <a:bodyPr/>
        <a:lstStyle/>
        <a:p>
          <a:pPr algn="ctr"/>
          <a:r>
            <a:rPr lang="en-GB"/>
            <a:t>Change Dataset and limit to only 1 class (animal or no animal)</a:t>
          </a:r>
        </a:p>
      </dgm:t>
    </dgm:pt>
    <dgm:pt modelId="{EE495604-A3AF-4C40-B321-F2615CEB19A9}" type="parTrans" cxnId="{FEAF08BA-9DFA-47B5-B29B-A068560CF4C4}">
      <dgm:prSet/>
      <dgm:spPr/>
      <dgm:t>
        <a:bodyPr/>
        <a:lstStyle/>
        <a:p>
          <a:endParaRPr lang="en-US"/>
        </a:p>
      </dgm:t>
    </dgm:pt>
    <dgm:pt modelId="{01A28558-6578-460C-9767-77580703E54E}" type="sibTrans" cxnId="{FEAF08BA-9DFA-47B5-B29B-A068560CF4C4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4F7395C-96CB-485E-B667-28D051A8735D}">
      <dgm:prSet/>
      <dgm:spPr/>
      <dgm:t>
        <a:bodyPr/>
        <a:lstStyle/>
        <a:p>
          <a:pPr algn="ctr" rtl="0"/>
          <a:r>
            <a:rPr lang="en-GB" dirty="0">
              <a:latin typeface="Aptos Display" panose="02110004020202020204"/>
            </a:rPr>
            <a:t>Improved</a:t>
          </a:r>
          <a:r>
            <a:rPr lang="en-GB" dirty="0"/>
            <a:t> Annotations </a:t>
          </a:r>
          <a:r>
            <a:rPr lang="en-GB" dirty="0">
              <a:latin typeface="Aptos Display" panose="02110004020202020204"/>
            </a:rPr>
            <a:t>for ~9k samples </a:t>
          </a:r>
          <a:r>
            <a:rPr lang="en-GB" dirty="0"/>
            <a:t>on ROBOFLOW</a:t>
          </a:r>
          <a:endParaRPr lang="en-US" dirty="0"/>
        </a:p>
      </dgm:t>
    </dgm:pt>
    <dgm:pt modelId="{5C70C3CC-D553-462B-A73E-43C514B8A494}" type="parTrans" cxnId="{071F69F2-FE29-4CF6-B499-1D1377F1585C}">
      <dgm:prSet/>
      <dgm:spPr/>
      <dgm:t>
        <a:bodyPr/>
        <a:lstStyle/>
        <a:p>
          <a:endParaRPr lang="en-US"/>
        </a:p>
      </dgm:t>
    </dgm:pt>
    <dgm:pt modelId="{E6889B81-D30B-46D6-BAC4-94A16CC49817}" type="sibTrans" cxnId="{071F69F2-FE29-4CF6-B499-1D1377F1585C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F8A82A97-65D4-4C4B-B6D7-6F80E9A453F5}">
      <dgm:prSet phldrT="[Text]" phldr="0"/>
      <dgm:spPr/>
      <dgm:t>
        <a:bodyPr/>
        <a:lstStyle/>
        <a:p>
          <a:pPr algn="ctr" rtl="0"/>
          <a:r>
            <a:rPr lang="en-US" dirty="0">
              <a:latin typeface="Aptos Display" panose="02110004020202020204"/>
            </a:rPr>
            <a:t>Fine-tuned YOLO parameters</a:t>
          </a:r>
          <a:br>
            <a:rPr lang="en-US" dirty="0">
              <a:latin typeface="Aptos Display" panose="02110004020202020204"/>
            </a:rPr>
          </a:br>
          <a:r>
            <a:rPr lang="en-US" dirty="0">
              <a:latin typeface="Aptos Display" panose="02110004020202020204"/>
            </a:rPr>
            <a:t>Increased image size to 1024</a:t>
          </a:r>
          <a:endParaRPr lang="en-GB" dirty="0">
            <a:latin typeface="Aptos Display" panose="02110004020202020204"/>
          </a:endParaRPr>
        </a:p>
      </dgm:t>
    </dgm:pt>
    <dgm:pt modelId="{53DB794F-F2E6-4727-89A3-4C9A601F52EA}" type="parTrans" cxnId="{A13F4FFF-2165-4756-8E6E-6DC5A308115C}">
      <dgm:prSet/>
      <dgm:spPr/>
    </dgm:pt>
    <dgm:pt modelId="{EA39555C-92A8-4DA7-810E-990C7247510C}" type="sibTrans" cxnId="{A13F4FFF-2165-4756-8E6E-6DC5A308115C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04E8D98D-2148-4B08-8EEC-149317F38648}" type="pres">
      <dgm:prSet presAssocID="{7DDEB63E-A3D7-46BB-A8A2-60C9143621F2}" presName="Name0" presStyleCnt="0">
        <dgm:presLayoutVars>
          <dgm:animLvl val="lvl"/>
          <dgm:resizeHandles val="exact"/>
        </dgm:presLayoutVars>
      </dgm:prSet>
      <dgm:spPr/>
    </dgm:pt>
    <dgm:pt modelId="{C2E7A1F2-3C7B-42BF-840C-29A3C7D85251}" type="pres">
      <dgm:prSet presAssocID="{C2A64A24-8DD0-4E15-B4FD-EF94AD745F49}" presName="compositeNode" presStyleCnt="0">
        <dgm:presLayoutVars>
          <dgm:bulletEnabled val="1"/>
        </dgm:presLayoutVars>
      </dgm:prSet>
      <dgm:spPr/>
    </dgm:pt>
    <dgm:pt modelId="{5CC5ED91-1594-469C-B285-577021CBCEEB}" type="pres">
      <dgm:prSet presAssocID="{C2A64A24-8DD0-4E15-B4FD-EF94AD745F49}" presName="bgRect" presStyleLbl="bgAccFollowNode1" presStyleIdx="0" presStyleCnt="7"/>
      <dgm:spPr/>
    </dgm:pt>
    <dgm:pt modelId="{9C1633B5-4A82-4592-BF49-89DC770AF0CE}" type="pres">
      <dgm:prSet presAssocID="{714B32DC-784B-4D53-91EB-6F9AB4864D51}" presName="sibTransNodeCircle" presStyleLbl="alignNode1" presStyleIdx="0" presStyleCnt="14">
        <dgm:presLayoutVars>
          <dgm:chMax val="0"/>
          <dgm:bulletEnabled/>
        </dgm:presLayoutVars>
      </dgm:prSet>
      <dgm:spPr/>
    </dgm:pt>
    <dgm:pt modelId="{B137E7E6-55D9-43F9-BE82-4C70DDC21E3F}" type="pres">
      <dgm:prSet presAssocID="{C2A64A24-8DD0-4E15-B4FD-EF94AD745F49}" presName="bottomLine" presStyleLbl="alignNode1" presStyleIdx="1" presStyleCnt="14">
        <dgm:presLayoutVars/>
      </dgm:prSet>
      <dgm:spPr/>
    </dgm:pt>
    <dgm:pt modelId="{996EA1EC-FB6B-490D-B50C-2F3A2CEDCC90}" type="pres">
      <dgm:prSet presAssocID="{C2A64A24-8DD0-4E15-B4FD-EF94AD745F49}" presName="nodeText" presStyleLbl="bgAccFollowNode1" presStyleIdx="0" presStyleCnt="7">
        <dgm:presLayoutVars>
          <dgm:bulletEnabled val="1"/>
        </dgm:presLayoutVars>
      </dgm:prSet>
      <dgm:spPr/>
    </dgm:pt>
    <dgm:pt modelId="{60128DEC-009E-4D69-AA3D-672099C5122B}" type="pres">
      <dgm:prSet presAssocID="{714B32DC-784B-4D53-91EB-6F9AB4864D51}" presName="sibTrans" presStyleCnt="0"/>
      <dgm:spPr/>
    </dgm:pt>
    <dgm:pt modelId="{84354B8C-A610-43A2-A0BD-D2598BB1AEE5}" type="pres">
      <dgm:prSet presAssocID="{3D48D8F7-BD89-4343-B6D9-7EA2499DFE77}" presName="compositeNode" presStyleCnt="0">
        <dgm:presLayoutVars>
          <dgm:bulletEnabled val="1"/>
        </dgm:presLayoutVars>
      </dgm:prSet>
      <dgm:spPr/>
    </dgm:pt>
    <dgm:pt modelId="{9F0B02DA-7897-4C04-9695-8FCC8CC684B1}" type="pres">
      <dgm:prSet presAssocID="{3D48D8F7-BD89-4343-B6D9-7EA2499DFE77}" presName="bgRect" presStyleLbl="bgAccFollowNode1" presStyleIdx="1" presStyleCnt="7"/>
      <dgm:spPr/>
    </dgm:pt>
    <dgm:pt modelId="{E72570FE-1267-4BDF-A272-1DBB3A93C006}" type="pres">
      <dgm:prSet presAssocID="{8C13E437-8176-467F-AFF2-A858A5606CE1}" presName="sibTransNodeCircle" presStyleLbl="alignNode1" presStyleIdx="2" presStyleCnt="14">
        <dgm:presLayoutVars>
          <dgm:chMax val="0"/>
          <dgm:bulletEnabled/>
        </dgm:presLayoutVars>
      </dgm:prSet>
      <dgm:spPr/>
    </dgm:pt>
    <dgm:pt modelId="{BE412821-72D1-4870-B613-300843BC242A}" type="pres">
      <dgm:prSet presAssocID="{3D48D8F7-BD89-4343-B6D9-7EA2499DFE77}" presName="bottomLine" presStyleLbl="alignNode1" presStyleIdx="3" presStyleCnt="14">
        <dgm:presLayoutVars/>
      </dgm:prSet>
      <dgm:spPr/>
    </dgm:pt>
    <dgm:pt modelId="{30D7FBDF-CEA6-497B-B9D0-FB1C6D313D26}" type="pres">
      <dgm:prSet presAssocID="{3D48D8F7-BD89-4343-B6D9-7EA2499DFE77}" presName="nodeText" presStyleLbl="bgAccFollowNode1" presStyleIdx="1" presStyleCnt="7">
        <dgm:presLayoutVars>
          <dgm:bulletEnabled val="1"/>
        </dgm:presLayoutVars>
      </dgm:prSet>
      <dgm:spPr/>
    </dgm:pt>
    <dgm:pt modelId="{0B8843F6-852C-4498-A027-768EDD985F27}" type="pres">
      <dgm:prSet presAssocID="{8C13E437-8176-467F-AFF2-A858A5606CE1}" presName="sibTrans" presStyleCnt="0"/>
      <dgm:spPr/>
    </dgm:pt>
    <dgm:pt modelId="{C2B2AAF5-40FD-4A1B-A416-D5ED860F287C}" type="pres">
      <dgm:prSet presAssocID="{D803103C-A9B9-41E8-B07F-29A0503C910E}" presName="compositeNode" presStyleCnt="0">
        <dgm:presLayoutVars>
          <dgm:bulletEnabled val="1"/>
        </dgm:presLayoutVars>
      </dgm:prSet>
      <dgm:spPr/>
    </dgm:pt>
    <dgm:pt modelId="{39C56FDA-DC07-425B-A738-60CB8B456411}" type="pres">
      <dgm:prSet presAssocID="{D803103C-A9B9-41E8-B07F-29A0503C910E}" presName="bgRect" presStyleLbl="bgAccFollowNode1" presStyleIdx="2" presStyleCnt="7"/>
      <dgm:spPr/>
    </dgm:pt>
    <dgm:pt modelId="{824DBA6E-2E6A-4A99-B3E2-F2317956F616}" type="pres">
      <dgm:prSet presAssocID="{D9D0E618-1D96-4FB9-906E-59B14B56373B}" presName="sibTransNodeCircle" presStyleLbl="alignNode1" presStyleIdx="4" presStyleCnt="14">
        <dgm:presLayoutVars>
          <dgm:chMax val="0"/>
          <dgm:bulletEnabled/>
        </dgm:presLayoutVars>
      </dgm:prSet>
      <dgm:spPr/>
    </dgm:pt>
    <dgm:pt modelId="{36836F79-750C-4C31-8F1A-903A13181D95}" type="pres">
      <dgm:prSet presAssocID="{D803103C-A9B9-41E8-B07F-29A0503C910E}" presName="bottomLine" presStyleLbl="alignNode1" presStyleIdx="5" presStyleCnt="14">
        <dgm:presLayoutVars/>
      </dgm:prSet>
      <dgm:spPr/>
    </dgm:pt>
    <dgm:pt modelId="{BA8C8F29-63CC-4121-B503-35811EBC276C}" type="pres">
      <dgm:prSet presAssocID="{D803103C-A9B9-41E8-B07F-29A0503C910E}" presName="nodeText" presStyleLbl="bgAccFollowNode1" presStyleIdx="2" presStyleCnt="7">
        <dgm:presLayoutVars>
          <dgm:bulletEnabled val="1"/>
        </dgm:presLayoutVars>
      </dgm:prSet>
      <dgm:spPr/>
    </dgm:pt>
    <dgm:pt modelId="{1EA6F573-D2B1-4E84-90E9-E3D501A6C079}" type="pres">
      <dgm:prSet presAssocID="{D9D0E618-1D96-4FB9-906E-59B14B56373B}" presName="sibTrans" presStyleCnt="0"/>
      <dgm:spPr/>
    </dgm:pt>
    <dgm:pt modelId="{3A2486D9-4C44-4369-A9D0-3F5A6E610841}" type="pres">
      <dgm:prSet presAssocID="{B1284C19-79CA-405D-835B-4350391299ED}" presName="compositeNode" presStyleCnt="0">
        <dgm:presLayoutVars>
          <dgm:bulletEnabled val="1"/>
        </dgm:presLayoutVars>
      </dgm:prSet>
      <dgm:spPr/>
    </dgm:pt>
    <dgm:pt modelId="{FED6BB98-E9DD-42AE-9D42-9E00FEB4F023}" type="pres">
      <dgm:prSet presAssocID="{B1284C19-79CA-405D-835B-4350391299ED}" presName="bgRect" presStyleLbl="bgAccFollowNode1" presStyleIdx="3" presStyleCnt="7"/>
      <dgm:spPr/>
    </dgm:pt>
    <dgm:pt modelId="{A37A2E00-1A83-472A-8AEE-CAC4BC09B806}" type="pres">
      <dgm:prSet presAssocID="{AF933676-7ADA-4FD2-A772-A5D514EDF941}" presName="sibTransNodeCircle" presStyleLbl="alignNode1" presStyleIdx="6" presStyleCnt="14">
        <dgm:presLayoutVars>
          <dgm:chMax val="0"/>
          <dgm:bulletEnabled/>
        </dgm:presLayoutVars>
      </dgm:prSet>
      <dgm:spPr/>
    </dgm:pt>
    <dgm:pt modelId="{91F3D958-D578-4B07-9923-0492139E4BA3}" type="pres">
      <dgm:prSet presAssocID="{B1284C19-79CA-405D-835B-4350391299ED}" presName="bottomLine" presStyleLbl="alignNode1" presStyleIdx="7" presStyleCnt="14">
        <dgm:presLayoutVars/>
      </dgm:prSet>
      <dgm:spPr/>
    </dgm:pt>
    <dgm:pt modelId="{45F64445-FE0E-4F06-9F74-75227C6B3949}" type="pres">
      <dgm:prSet presAssocID="{B1284C19-79CA-405D-835B-4350391299ED}" presName="nodeText" presStyleLbl="bgAccFollowNode1" presStyleIdx="3" presStyleCnt="7">
        <dgm:presLayoutVars>
          <dgm:bulletEnabled val="1"/>
        </dgm:presLayoutVars>
      </dgm:prSet>
      <dgm:spPr/>
    </dgm:pt>
    <dgm:pt modelId="{B0C8F3DA-CDEF-46CE-9915-43BF3B0A23A9}" type="pres">
      <dgm:prSet presAssocID="{AF933676-7ADA-4FD2-A772-A5D514EDF941}" presName="sibTrans" presStyleCnt="0"/>
      <dgm:spPr/>
    </dgm:pt>
    <dgm:pt modelId="{814955B8-ECEA-4F96-BEEA-E1CC13CA0DA8}" type="pres">
      <dgm:prSet presAssocID="{4A640F4F-EE05-466D-AE47-F42A0530632C}" presName="compositeNode" presStyleCnt="0">
        <dgm:presLayoutVars>
          <dgm:bulletEnabled val="1"/>
        </dgm:presLayoutVars>
      </dgm:prSet>
      <dgm:spPr/>
    </dgm:pt>
    <dgm:pt modelId="{89883F39-BC52-4E2D-8DDE-DB1C32BFF77D}" type="pres">
      <dgm:prSet presAssocID="{4A640F4F-EE05-466D-AE47-F42A0530632C}" presName="bgRect" presStyleLbl="bgAccFollowNode1" presStyleIdx="4" presStyleCnt="7"/>
      <dgm:spPr/>
    </dgm:pt>
    <dgm:pt modelId="{2C27B766-390C-4D96-BC5A-3098C56ED480}" type="pres">
      <dgm:prSet presAssocID="{01A28558-6578-460C-9767-77580703E54E}" presName="sibTransNodeCircle" presStyleLbl="alignNode1" presStyleIdx="8" presStyleCnt="14">
        <dgm:presLayoutVars>
          <dgm:chMax val="0"/>
          <dgm:bulletEnabled/>
        </dgm:presLayoutVars>
      </dgm:prSet>
      <dgm:spPr/>
    </dgm:pt>
    <dgm:pt modelId="{519B30CF-9A00-4839-A907-ED3E9BDE75FD}" type="pres">
      <dgm:prSet presAssocID="{4A640F4F-EE05-466D-AE47-F42A0530632C}" presName="bottomLine" presStyleLbl="alignNode1" presStyleIdx="9" presStyleCnt="14">
        <dgm:presLayoutVars/>
      </dgm:prSet>
      <dgm:spPr/>
    </dgm:pt>
    <dgm:pt modelId="{1198C84B-C69C-4AB6-8DC9-10868BEEF727}" type="pres">
      <dgm:prSet presAssocID="{4A640F4F-EE05-466D-AE47-F42A0530632C}" presName="nodeText" presStyleLbl="bgAccFollowNode1" presStyleIdx="4" presStyleCnt="7">
        <dgm:presLayoutVars>
          <dgm:bulletEnabled val="1"/>
        </dgm:presLayoutVars>
      </dgm:prSet>
      <dgm:spPr/>
    </dgm:pt>
    <dgm:pt modelId="{8E3EA730-25B1-4843-848D-F13EC8102FE2}" type="pres">
      <dgm:prSet presAssocID="{01A28558-6578-460C-9767-77580703E54E}" presName="sibTrans" presStyleCnt="0"/>
      <dgm:spPr/>
    </dgm:pt>
    <dgm:pt modelId="{AE9AE3C6-602B-492E-A6FF-668B9C3EF797}" type="pres">
      <dgm:prSet presAssocID="{54F7395C-96CB-485E-B667-28D051A8735D}" presName="compositeNode" presStyleCnt="0">
        <dgm:presLayoutVars>
          <dgm:bulletEnabled val="1"/>
        </dgm:presLayoutVars>
      </dgm:prSet>
      <dgm:spPr/>
    </dgm:pt>
    <dgm:pt modelId="{0E9F1305-1C03-466C-BA15-898AA0F7AB86}" type="pres">
      <dgm:prSet presAssocID="{54F7395C-96CB-485E-B667-28D051A8735D}" presName="bgRect" presStyleLbl="bgAccFollowNode1" presStyleIdx="5" presStyleCnt="7"/>
      <dgm:spPr/>
    </dgm:pt>
    <dgm:pt modelId="{AB0EE749-79CD-47C8-B4EF-9E66A8840987}" type="pres">
      <dgm:prSet presAssocID="{E6889B81-D30B-46D6-BAC4-94A16CC49817}" presName="sibTransNodeCircle" presStyleLbl="alignNode1" presStyleIdx="10" presStyleCnt="14">
        <dgm:presLayoutVars>
          <dgm:chMax val="0"/>
          <dgm:bulletEnabled/>
        </dgm:presLayoutVars>
      </dgm:prSet>
      <dgm:spPr/>
    </dgm:pt>
    <dgm:pt modelId="{A639E6A8-6F6A-4980-A25A-800D4CF3C33B}" type="pres">
      <dgm:prSet presAssocID="{54F7395C-96CB-485E-B667-28D051A8735D}" presName="bottomLine" presStyleLbl="alignNode1" presStyleIdx="11" presStyleCnt="14">
        <dgm:presLayoutVars/>
      </dgm:prSet>
      <dgm:spPr/>
    </dgm:pt>
    <dgm:pt modelId="{1FD7197D-BFA4-4E67-8D03-39A197ADCDA4}" type="pres">
      <dgm:prSet presAssocID="{54F7395C-96CB-485E-B667-28D051A8735D}" presName="nodeText" presStyleLbl="bgAccFollowNode1" presStyleIdx="5" presStyleCnt="7">
        <dgm:presLayoutVars>
          <dgm:bulletEnabled val="1"/>
        </dgm:presLayoutVars>
      </dgm:prSet>
      <dgm:spPr/>
    </dgm:pt>
    <dgm:pt modelId="{C1A8BAB1-C95B-4676-8CB3-6E916770049C}" type="pres">
      <dgm:prSet presAssocID="{E6889B81-D30B-46D6-BAC4-94A16CC49817}" presName="sibTrans" presStyleCnt="0"/>
      <dgm:spPr/>
    </dgm:pt>
    <dgm:pt modelId="{2982C03D-39FD-4D9D-AD5C-26DE40322534}" type="pres">
      <dgm:prSet presAssocID="{F8A82A97-65D4-4C4B-B6D7-6F80E9A453F5}" presName="compositeNode" presStyleCnt="0">
        <dgm:presLayoutVars>
          <dgm:bulletEnabled val="1"/>
        </dgm:presLayoutVars>
      </dgm:prSet>
      <dgm:spPr/>
    </dgm:pt>
    <dgm:pt modelId="{6424192D-D232-4791-B49D-44ECB10EF36E}" type="pres">
      <dgm:prSet presAssocID="{F8A82A97-65D4-4C4B-B6D7-6F80E9A453F5}" presName="bgRect" presStyleLbl="bgAccFollowNode1" presStyleIdx="6" presStyleCnt="7"/>
      <dgm:spPr/>
    </dgm:pt>
    <dgm:pt modelId="{6C9136AF-485D-49F2-9C63-11C28F68C8A7}" type="pres">
      <dgm:prSet presAssocID="{EA39555C-92A8-4DA7-810E-990C7247510C}" presName="sibTransNodeCircle" presStyleLbl="alignNode1" presStyleIdx="12" presStyleCnt="14">
        <dgm:presLayoutVars>
          <dgm:chMax val="0"/>
          <dgm:bulletEnabled/>
        </dgm:presLayoutVars>
      </dgm:prSet>
      <dgm:spPr/>
    </dgm:pt>
    <dgm:pt modelId="{EECDD2E9-7082-4268-AE32-CD3AE8ECD0EC}" type="pres">
      <dgm:prSet presAssocID="{F8A82A97-65D4-4C4B-B6D7-6F80E9A453F5}" presName="bottomLine" presStyleLbl="alignNode1" presStyleIdx="13" presStyleCnt="14">
        <dgm:presLayoutVars/>
      </dgm:prSet>
      <dgm:spPr/>
    </dgm:pt>
    <dgm:pt modelId="{8B25ABE7-E4CF-44EB-8FCA-255C62782B84}" type="pres">
      <dgm:prSet presAssocID="{F8A82A97-65D4-4C4B-B6D7-6F80E9A453F5}" presName="nodeText" presStyleLbl="bgAccFollowNode1" presStyleIdx="6" presStyleCnt="7">
        <dgm:presLayoutVars>
          <dgm:bulletEnabled val="1"/>
        </dgm:presLayoutVars>
      </dgm:prSet>
      <dgm:spPr/>
    </dgm:pt>
  </dgm:ptLst>
  <dgm:cxnLst>
    <dgm:cxn modelId="{FF3FD608-BC22-4CF0-969B-348969DADCF0}" type="presOf" srcId="{EA39555C-92A8-4DA7-810E-990C7247510C}" destId="{6C9136AF-485D-49F2-9C63-11C28F68C8A7}" srcOrd="0" destOrd="0" presId="urn:microsoft.com/office/officeart/2016/7/layout/BasicLinearProcessNumbered"/>
    <dgm:cxn modelId="{CCFD2F11-8A2F-4A69-BEEC-2084646CEC6B}" type="presOf" srcId="{01A28558-6578-460C-9767-77580703E54E}" destId="{2C27B766-390C-4D96-BC5A-3098C56ED480}" srcOrd="0" destOrd="0" presId="urn:microsoft.com/office/officeart/2016/7/layout/BasicLinearProcessNumbered"/>
    <dgm:cxn modelId="{33948A2E-E424-4277-BAE2-14F0D4E46DBF}" type="presOf" srcId="{54F7395C-96CB-485E-B667-28D051A8735D}" destId="{0E9F1305-1C03-466C-BA15-898AA0F7AB86}" srcOrd="0" destOrd="0" presId="urn:microsoft.com/office/officeart/2016/7/layout/BasicLinearProcessNumbered"/>
    <dgm:cxn modelId="{46C4293A-8467-40E5-B126-E37AF7A0AD5F}" type="presOf" srcId="{F8A82A97-65D4-4C4B-B6D7-6F80E9A453F5}" destId="{8B25ABE7-E4CF-44EB-8FCA-255C62782B84}" srcOrd="1" destOrd="0" presId="urn:microsoft.com/office/officeart/2016/7/layout/BasicLinearProcessNumbered"/>
    <dgm:cxn modelId="{47719C5B-1C35-41D0-8141-64FBDDD71D2E}" type="presOf" srcId="{D9D0E618-1D96-4FB9-906E-59B14B56373B}" destId="{824DBA6E-2E6A-4A99-B3E2-F2317956F616}" srcOrd="0" destOrd="0" presId="urn:microsoft.com/office/officeart/2016/7/layout/BasicLinearProcessNumbered"/>
    <dgm:cxn modelId="{64E4D542-4366-4C4E-8DB5-CE71ABFEC5CD}" type="presOf" srcId="{B1284C19-79CA-405D-835B-4350391299ED}" destId="{FED6BB98-E9DD-42AE-9D42-9E00FEB4F023}" srcOrd="0" destOrd="0" presId="urn:microsoft.com/office/officeart/2016/7/layout/BasicLinearProcessNumbered"/>
    <dgm:cxn modelId="{C5246545-5FFF-435B-BEE7-347D67047A0C}" type="presOf" srcId="{F8A82A97-65D4-4C4B-B6D7-6F80E9A453F5}" destId="{6424192D-D232-4791-B49D-44ECB10EF36E}" srcOrd="0" destOrd="0" presId="urn:microsoft.com/office/officeart/2016/7/layout/BasicLinearProcessNumbered"/>
    <dgm:cxn modelId="{7748CE65-095B-44E7-88AC-9E1A20CB06AC}" srcId="{7DDEB63E-A3D7-46BB-A8A2-60C9143621F2}" destId="{B1284C19-79CA-405D-835B-4350391299ED}" srcOrd="3" destOrd="0" parTransId="{BB106A8F-0018-4129-95EC-A4A4CF924F6E}" sibTransId="{AF933676-7ADA-4FD2-A772-A5D514EDF941}"/>
    <dgm:cxn modelId="{969FD049-6B9C-4633-9B64-7B3972C2D448}" srcId="{7DDEB63E-A3D7-46BB-A8A2-60C9143621F2}" destId="{C2A64A24-8DD0-4E15-B4FD-EF94AD745F49}" srcOrd="0" destOrd="0" parTransId="{B74729A8-3F8B-4752-982E-D81582694CBA}" sibTransId="{714B32DC-784B-4D53-91EB-6F9AB4864D51}"/>
    <dgm:cxn modelId="{0B22334D-A57C-4C03-8E25-1D14E3F68E51}" type="presOf" srcId="{4A640F4F-EE05-466D-AE47-F42A0530632C}" destId="{89883F39-BC52-4E2D-8DDE-DB1C32BFF77D}" srcOrd="0" destOrd="0" presId="urn:microsoft.com/office/officeart/2016/7/layout/BasicLinearProcessNumbered"/>
    <dgm:cxn modelId="{97C3F771-0F09-4E30-9F50-8B631EE1E1E1}" type="presOf" srcId="{E6889B81-D30B-46D6-BAC4-94A16CC49817}" destId="{AB0EE749-79CD-47C8-B4EF-9E66A8840987}" srcOrd="0" destOrd="0" presId="urn:microsoft.com/office/officeart/2016/7/layout/BasicLinearProcessNumbered"/>
    <dgm:cxn modelId="{A8FF2955-2015-4E7B-BE24-466917E974BE}" type="presOf" srcId="{C2A64A24-8DD0-4E15-B4FD-EF94AD745F49}" destId="{996EA1EC-FB6B-490D-B50C-2F3A2CEDCC90}" srcOrd="1" destOrd="0" presId="urn:microsoft.com/office/officeart/2016/7/layout/BasicLinearProcessNumbered"/>
    <dgm:cxn modelId="{1E65CE79-0D57-4141-BAAD-0D92F170763C}" srcId="{7DDEB63E-A3D7-46BB-A8A2-60C9143621F2}" destId="{3D48D8F7-BD89-4343-B6D9-7EA2499DFE77}" srcOrd="1" destOrd="0" parTransId="{56A02232-AC7F-49BD-B9F7-49379EEF9490}" sibTransId="{8C13E437-8176-467F-AFF2-A858A5606CE1}"/>
    <dgm:cxn modelId="{727CE37A-A91D-4539-ACB1-21F7AC2AFC34}" type="presOf" srcId="{C2A64A24-8DD0-4E15-B4FD-EF94AD745F49}" destId="{5CC5ED91-1594-469C-B285-577021CBCEEB}" srcOrd="0" destOrd="0" presId="urn:microsoft.com/office/officeart/2016/7/layout/BasicLinearProcessNumbered"/>
    <dgm:cxn modelId="{22B325A5-EF7D-4AD5-86AA-51B4C13831D9}" type="presOf" srcId="{B1284C19-79CA-405D-835B-4350391299ED}" destId="{45F64445-FE0E-4F06-9F74-75227C6B3949}" srcOrd="1" destOrd="0" presId="urn:microsoft.com/office/officeart/2016/7/layout/BasicLinearProcessNumbered"/>
    <dgm:cxn modelId="{12C53AB2-9EAA-4D8D-94FD-64C1F58170F3}" srcId="{7DDEB63E-A3D7-46BB-A8A2-60C9143621F2}" destId="{D803103C-A9B9-41E8-B07F-29A0503C910E}" srcOrd="2" destOrd="0" parTransId="{485BB43B-039F-469A-BB67-53D3C1E9D6A1}" sibTransId="{D9D0E618-1D96-4FB9-906E-59B14B56373B}"/>
    <dgm:cxn modelId="{1A5D2CB8-CC89-4438-86E3-99DDC3936CF5}" type="presOf" srcId="{7DDEB63E-A3D7-46BB-A8A2-60C9143621F2}" destId="{04E8D98D-2148-4B08-8EEC-149317F38648}" srcOrd="0" destOrd="0" presId="urn:microsoft.com/office/officeart/2016/7/layout/BasicLinearProcessNumbered"/>
    <dgm:cxn modelId="{FEAF08BA-9DFA-47B5-B29B-A068560CF4C4}" srcId="{7DDEB63E-A3D7-46BB-A8A2-60C9143621F2}" destId="{4A640F4F-EE05-466D-AE47-F42A0530632C}" srcOrd="4" destOrd="0" parTransId="{EE495604-A3AF-4C40-B321-F2615CEB19A9}" sibTransId="{01A28558-6578-460C-9767-77580703E54E}"/>
    <dgm:cxn modelId="{286E73C7-4815-492E-A19A-EC0B4999EF8A}" type="presOf" srcId="{4A640F4F-EE05-466D-AE47-F42A0530632C}" destId="{1198C84B-C69C-4AB6-8DC9-10868BEEF727}" srcOrd="1" destOrd="0" presId="urn:microsoft.com/office/officeart/2016/7/layout/BasicLinearProcessNumbered"/>
    <dgm:cxn modelId="{2717EDC9-9614-40A0-AF50-9D7D1D434A76}" type="presOf" srcId="{AF933676-7ADA-4FD2-A772-A5D514EDF941}" destId="{A37A2E00-1A83-472A-8AEE-CAC4BC09B806}" srcOrd="0" destOrd="0" presId="urn:microsoft.com/office/officeart/2016/7/layout/BasicLinearProcessNumbered"/>
    <dgm:cxn modelId="{92B5B9CB-0355-4E92-B346-52874BF48DC6}" type="presOf" srcId="{3D48D8F7-BD89-4343-B6D9-7EA2499DFE77}" destId="{30D7FBDF-CEA6-497B-B9D0-FB1C6D313D26}" srcOrd="1" destOrd="0" presId="urn:microsoft.com/office/officeart/2016/7/layout/BasicLinearProcessNumbered"/>
    <dgm:cxn modelId="{80EF30D7-4CA9-4FE9-9AD5-AB01A7E4267B}" type="presOf" srcId="{714B32DC-784B-4D53-91EB-6F9AB4864D51}" destId="{9C1633B5-4A82-4592-BF49-89DC770AF0CE}" srcOrd="0" destOrd="0" presId="urn:microsoft.com/office/officeart/2016/7/layout/BasicLinearProcessNumbered"/>
    <dgm:cxn modelId="{DEF7A7DB-8662-44C8-A73F-9E9FE55E0F34}" type="presOf" srcId="{54F7395C-96CB-485E-B667-28D051A8735D}" destId="{1FD7197D-BFA4-4E67-8D03-39A197ADCDA4}" srcOrd="1" destOrd="0" presId="urn:microsoft.com/office/officeart/2016/7/layout/BasicLinearProcessNumbered"/>
    <dgm:cxn modelId="{BF16BDE6-3977-4FAE-A7D0-3ED4A3D5E250}" type="presOf" srcId="{3D48D8F7-BD89-4343-B6D9-7EA2499DFE77}" destId="{9F0B02DA-7897-4C04-9695-8FCC8CC684B1}" srcOrd="0" destOrd="0" presId="urn:microsoft.com/office/officeart/2016/7/layout/BasicLinearProcessNumbered"/>
    <dgm:cxn modelId="{5B213BE9-863A-4DDF-852D-2CFDFB54DA33}" type="presOf" srcId="{8C13E437-8176-467F-AFF2-A858A5606CE1}" destId="{E72570FE-1267-4BDF-A272-1DBB3A93C006}" srcOrd="0" destOrd="0" presId="urn:microsoft.com/office/officeart/2016/7/layout/BasicLinearProcessNumbered"/>
    <dgm:cxn modelId="{071F69F2-FE29-4CF6-B499-1D1377F1585C}" srcId="{7DDEB63E-A3D7-46BB-A8A2-60C9143621F2}" destId="{54F7395C-96CB-485E-B667-28D051A8735D}" srcOrd="5" destOrd="0" parTransId="{5C70C3CC-D553-462B-A73E-43C514B8A494}" sibTransId="{E6889B81-D30B-46D6-BAC4-94A16CC49817}"/>
    <dgm:cxn modelId="{F46665F6-6430-4BF0-9DCD-6BCB5A253E3A}" type="presOf" srcId="{D803103C-A9B9-41E8-B07F-29A0503C910E}" destId="{39C56FDA-DC07-425B-A738-60CB8B456411}" srcOrd="0" destOrd="0" presId="urn:microsoft.com/office/officeart/2016/7/layout/BasicLinearProcessNumbered"/>
    <dgm:cxn modelId="{48E39AF9-ADBA-49BB-A7C4-E082D36819BB}" type="presOf" srcId="{D803103C-A9B9-41E8-B07F-29A0503C910E}" destId="{BA8C8F29-63CC-4121-B503-35811EBC276C}" srcOrd="1" destOrd="0" presId="urn:microsoft.com/office/officeart/2016/7/layout/BasicLinearProcessNumbered"/>
    <dgm:cxn modelId="{A13F4FFF-2165-4756-8E6E-6DC5A308115C}" srcId="{7DDEB63E-A3D7-46BB-A8A2-60C9143621F2}" destId="{F8A82A97-65D4-4C4B-B6D7-6F80E9A453F5}" srcOrd="6" destOrd="0" parTransId="{53DB794F-F2E6-4727-89A3-4C9A601F52EA}" sibTransId="{EA39555C-92A8-4DA7-810E-990C7247510C}"/>
    <dgm:cxn modelId="{20602AEF-CDCE-4DE6-9060-34EC9738D1FD}" type="presParOf" srcId="{04E8D98D-2148-4B08-8EEC-149317F38648}" destId="{C2E7A1F2-3C7B-42BF-840C-29A3C7D85251}" srcOrd="0" destOrd="0" presId="urn:microsoft.com/office/officeart/2016/7/layout/BasicLinearProcessNumbered"/>
    <dgm:cxn modelId="{32DCEF10-B28B-471E-A400-EF96126BBA4D}" type="presParOf" srcId="{C2E7A1F2-3C7B-42BF-840C-29A3C7D85251}" destId="{5CC5ED91-1594-469C-B285-577021CBCEEB}" srcOrd="0" destOrd="0" presId="urn:microsoft.com/office/officeart/2016/7/layout/BasicLinearProcessNumbered"/>
    <dgm:cxn modelId="{6A70D8F6-0F79-4619-ABBF-83C26279C331}" type="presParOf" srcId="{C2E7A1F2-3C7B-42BF-840C-29A3C7D85251}" destId="{9C1633B5-4A82-4592-BF49-89DC770AF0CE}" srcOrd="1" destOrd="0" presId="urn:microsoft.com/office/officeart/2016/7/layout/BasicLinearProcessNumbered"/>
    <dgm:cxn modelId="{E5838A20-3191-484F-8D70-3EDDD4BFA348}" type="presParOf" srcId="{C2E7A1F2-3C7B-42BF-840C-29A3C7D85251}" destId="{B137E7E6-55D9-43F9-BE82-4C70DDC21E3F}" srcOrd="2" destOrd="0" presId="urn:microsoft.com/office/officeart/2016/7/layout/BasicLinearProcessNumbered"/>
    <dgm:cxn modelId="{09BFEAEB-63EF-437F-87E0-FCF97A0839AD}" type="presParOf" srcId="{C2E7A1F2-3C7B-42BF-840C-29A3C7D85251}" destId="{996EA1EC-FB6B-490D-B50C-2F3A2CEDCC90}" srcOrd="3" destOrd="0" presId="urn:microsoft.com/office/officeart/2016/7/layout/BasicLinearProcessNumbered"/>
    <dgm:cxn modelId="{90CCCD7B-64A4-456A-9B07-EAA748E4F6A1}" type="presParOf" srcId="{04E8D98D-2148-4B08-8EEC-149317F38648}" destId="{60128DEC-009E-4D69-AA3D-672099C5122B}" srcOrd="1" destOrd="0" presId="urn:microsoft.com/office/officeart/2016/7/layout/BasicLinearProcessNumbered"/>
    <dgm:cxn modelId="{3AC22AB7-E313-41A7-A0D9-D8D4D7D355D2}" type="presParOf" srcId="{04E8D98D-2148-4B08-8EEC-149317F38648}" destId="{84354B8C-A610-43A2-A0BD-D2598BB1AEE5}" srcOrd="2" destOrd="0" presId="urn:microsoft.com/office/officeart/2016/7/layout/BasicLinearProcessNumbered"/>
    <dgm:cxn modelId="{E3290FCC-326E-4E74-9A8E-456575E1CA45}" type="presParOf" srcId="{84354B8C-A610-43A2-A0BD-D2598BB1AEE5}" destId="{9F0B02DA-7897-4C04-9695-8FCC8CC684B1}" srcOrd="0" destOrd="0" presId="urn:microsoft.com/office/officeart/2016/7/layout/BasicLinearProcessNumbered"/>
    <dgm:cxn modelId="{E14EF0DE-A4BB-4CDF-9BFE-A1BDAF726852}" type="presParOf" srcId="{84354B8C-A610-43A2-A0BD-D2598BB1AEE5}" destId="{E72570FE-1267-4BDF-A272-1DBB3A93C006}" srcOrd="1" destOrd="0" presId="urn:microsoft.com/office/officeart/2016/7/layout/BasicLinearProcessNumbered"/>
    <dgm:cxn modelId="{F9BFA1A0-731A-42DB-AC96-CA9F9C66C746}" type="presParOf" srcId="{84354B8C-A610-43A2-A0BD-D2598BB1AEE5}" destId="{BE412821-72D1-4870-B613-300843BC242A}" srcOrd="2" destOrd="0" presId="urn:microsoft.com/office/officeart/2016/7/layout/BasicLinearProcessNumbered"/>
    <dgm:cxn modelId="{E1611C19-5D0E-489E-9573-5FA34592F6E2}" type="presParOf" srcId="{84354B8C-A610-43A2-A0BD-D2598BB1AEE5}" destId="{30D7FBDF-CEA6-497B-B9D0-FB1C6D313D26}" srcOrd="3" destOrd="0" presId="urn:microsoft.com/office/officeart/2016/7/layout/BasicLinearProcessNumbered"/>
    <dgm:cxn modelId="{3D7481CA-3032-4C9E-864B-B92E61F85E80}" type="presParOf" srcId="{04E8D98D-2148-4B08-8EEC-149317F38648}" destId="{0B8843F6-852C-4498-A027-768EDD985F27}" srcOrd="3" destOrd="0" presId="urn:microsoft.com/office/officeart/2016/7/layout/BasicLinearProcessNumbered"/>
    <dgm:cxn modelId="{93C1C90E-E0AE-4693-8FA7-2C8DEBC515AC}" type="presParOf" srcId="{04E8D98D-2148-4B08-8EEC-149317F38648}" destId="{C2B2AAF5-40FD-4A1B-A416-D5ED860F287C}" srcOrd="4" destOrd="0" presId="urn:microsoft.com/office/officeart/2016/7/layout/BasicLinearProcessNumbered"/>
    <dgm:cxn modelId="{E44839CA-70A5-4327-B227-60270B896EEE}" type="presParOf" srcId="{C2B2AAF5-40FD-4A1B-A416-D5ED860F287C}" destId="{39C56FDA-DC07-425B-A738-60CB8B456411}" srcOrd="0" destOrd="0" presId="urn:microsoft.com/office/officeart/2016/7/layout/BasicLinearProcessNumbered"/>
    <dgm:cxn modelId="{8A6A09F2-47AC-44A7-87D3-810A8DC3B089}" type="presParOf" srcId="{C2B2AAF5-40FD-4A1B-A416-D5ED860F287C}" destId="{824DBA6E-2E6A-4A99-B3E2-F2317956F616}" srcOrd="1" destOrd="0" presId="urn:microsoft.com/office/officeart/2016/7/layout/BasicLinearProcessNumbered"/>
    <dgm:cxn modelId="{67DA78DF-E677-40FE-9AFC-F43E732CD253}" type="presParOf" srcId="{C2B2AAF5-40FD-4A1B-A416-D5ED860F287C}" destId="{36836F79-750C-4C31-8F1A-903A13181D95}" srcOrd="2" destOrd="0" presId="urn:microsoft.com/office/officeart/2016/7/layout/BasicLinearProcessNumbered"/>
    <dgm:cxn modelId="{E4B352C4-F8F2-48A6-9E4C-1FF5913B0984}" type="presParOf" srcId="{C2B2AAF5-40FD-4A1B-A416-D5ED860F287C}" destId="{BA8C8F29-63CC-4121-B503-35811EBC276C}" srcOrd="3" destOrd="0" presId="urn:microsoft.com/office/officeart/2016/7/layout/BasicLinearProcessNumbered"/>
    <dgm:cxn modelId="{0B5F8493-713F-4F73-B008-1596B6990DBF}" type="presParOf" srcId="{04E8D98D-2148-4B08-8EEC-149317F38648}" destId="{1EA6F573-D2B1-4E84-90E9-E3D501A6C079}" srcOrd="5" destOrd="0" presId="urn:microsoft.com/office/officeart/2016/7/layout/BasicLinearProcessNumbered"/>
    <dgm:cxn modelId="{8CB2DFC6-7D5F-4874-BA0E-771D8E68F1D6}" type="presParOf" srcId="{04E8D98D-2148-4B08-8EEC-149317F38648}" destId="{3A2486D9-4C44-4369-A9D0-3F5A6E610841}" srcOrd="6" destOrd="0" presId="urn:microsoft.com/office/officeart/2016/7/layout/BasicLinearProcessNumbered"/>
    <dgm:cxn modelId="{C2AEB07B-55A8-41D3-9927-4B4904B4FEB1}" type="presParOf" srcId="{3A2486D9-4C44-4369-A9D0-3F5A6E610841}" destId="{FED6BB98-E9DD-42AE-9D42-9E00FEB4F023}" srcOrd="0" destOrd="0" presId="urn:microsoft.com/office/officeart/2016/7/layout/BasicLinearProcessNumbered"/>
    <dgm:cxn modelId="{0B90D107-131A-4B68-9CC7-861742DA8C14}" type="presParOf" srcId="{3A2486D9-4C44-4369-A9D0-3F5A6E610841}" destId="{A37A2E00-1A83-472A-8AEE-CAC4BC09B806}" srcOrd="1" destOrd="0" presId="urn:microsoft.com/office/officeart/2016/7/layout/BasicLinearProcessNumbered"/>
    <dgm:cxn modelId="{A59BE5F7-5C4C-4D15-8594-8358D27162CD}" type="presParOf" srcId="{3A2486D9-4C44-4369-A9D0-3F5A6E610841}" destId="{91F3D958-D578-4B07-9923-0492139E4BA3}" srcOrd="2" destOrd="0" presId="urn:microsoft.com/office/officeart/2016/7/layout/BasicLinearProcessNumbered"/>
    <dgm:cxn modelId="{FB888009-9ACB-436C-8623-C2FF974F7C4C}" type="presParOf" srcId="{3A2486D9-4C44-4369-A9D0-3F5A6E610841}" destId="{45F64445-FE0E-4F06-9F74-75227C6B3949}" srcOrd="3" destOrd="0" presId="urn:microsoft.com/office/officeart/2016/7/layout/BasicLinearProcessNumbered"/>
    <dgm:cxn modelId="{369AEABA-8654-4CC3-8459-4F6AA0751069}" type="presParOf" srcId="{04E8D98D-2148-4B08-8EEC-149317F38648}" destId="{B0C8F3DA-CDEF-46CE-9915-43BF3B0A23A9}" srcOrd="7" destOrd="0" presId="urn:microsoft.com/office/officeart/2016/7/layout/BasicLinearProcessNumbered"/>
    <dgm:cxn modelId="{80240A17-4C8C-4BFA-BC84-CA7A036406CD}" type="presParOf" srcId="{04E8D98D-2148-4B08-8EEC-149317F38648}" destId="{814955B8-ECEA-4F96-BEEA-E1CC13CA0DA8}" srcOrd="8" destOrd="0" presId="urn:microsoft.com/office/officeart/2016/7/layout/BasicLinearProcessNumbered"/>
    <dgm:cxn modelId="{E8BB645C-BED3-4A36-89CC-8FD682886DAD}" type="presParOf" srcId="{814955B8-ECEA-4F96-BEEA-E1CC13CA0DA8}" destId="{89883F39-BC52-4E2D-8DDE-DB1C32BFF77D}" srcOrd="0" destOrd="0" presId="urn:microsoft.com/office/officeart/2016/7/layout/BasicLinearProcessNumbered"/>
    <dgm:cxn modelId="{0DA6F5DE-C0A5-43EC-804F-DDADA08D8514}" type="presParOf" srcId="{814955B8-ECEA-4F96-BEEA-E1CC13CA0DA8}" destId="{2C27B766-390C-4D96-BC5A-3098C56ED480}" srcOrd="1" destOrd="0" presId="urn:microsoft.com/office/officeart/2016/7/layout/BasicLinearProcessNumbered"/>
    <dgm:cxn modelId="{585F3680-B2DD-4E2F-9134-CFE975A248E7}" type="presParOf" srcId="{814955B8-ECEA-4F96-BEEA-E1CC13CA0DA8}" destId="{519B30CF-9A00-4839-A907-ED3E9BDE75FD}" srcOrd="2" destOrd="0" presId="urn:microsoft.com/office/officeart/2016/7/layout/BasicLinearProcessNumbered"/>
    <dgm:cxn modelId="{B20CD9C3-24E8-4482-AC00-C294F79702C8}" type="presParOf" srcId="{814955B8-ECEA-4F96-BEEA-E1CC13CA0DA8}" destId="{1198C84B-C69C-4AB6-8DC9-10868BEEF727}" srcOrd="3" destOrd="0" presId="urn:microsoft.com/office/officeart/2016/7/layout/BasicLinearProcessNumbered"/>
    <dgm:cxn modelId="{AB2A0EED-20F7-47BE-86E1-DA1E73C83208}" type="presParOf" srcId="{04E8D98D-2148-4B08-8EEC-149317F38648}" destId="{8E3EA730-25B1-4843-848D-F13EC8102FE2}" srcOrd="9" destOrd="0" presId="urn:microsoft.com/office/officeart/2016/7/layout/BasicLinearProcessNumbered"/>
    <dgm:cxn modelId="{23DADF2E-5ACF-486B-B9A1-36BC3AB9919F}" type="presParOf" srcId="{04E8D98D-2148-4B08-8EEC-149317F38648}" destId="{AE9AE3C6-602B-492E-A6FF-668B9C3EF797}" srcOrd="10" destOrd="0" presId="urn:microsoft.com/office/officeart/2016/7/layout/BasicLinearProcessNumbered"/>
    <dgm:cxn modelId="{645AF544-D191-47D8-BB5B-1B1B665C9EFF}" type="presParOf" srcId="{AE9AE3C6-602B-492E-A6FF-668B9C3EF797}" destId="{0E9F1305-1C03-466C-BA15-898AA0F7AB86}" srcOrd="0" destOrd="0" presId="urn:microsoft.com/office/officeart/2016/7/layout/BasicLinearProcessNumbered"/>
    <dgm:cxn modelId="{12896ED3-DC72-48FE-ACC9-721A2406327B}" type="presParOf" srcId="{AE9AE3C6-602B-492E-A6FF-668B9C3EF797}" destId="{AB0EE749-79CD-47C8-B4EF-9E66A8840987}" srcOrd="1" destOrd="0" presId="urn:microsoft.com/office/officeart/2016/7/layout/BasicLinearProcessNumbered"/>
    <dgm:cxn modelId="{4295BB3D-8F35-4D24-8587-FF6171F1AF54}" type="presParOf" srcId="{AE9AE3C6-602B-492E-A6FF-668B9C3EF797}" destId="{A639E6A8-6F6A-4980-A25A-800D4CF3C33B}" srcOrd="2" destOrd="0" presId="urn:microsoft.com/office/officeart/2016/7/layout/BasicLinearProcessNumbered"/>
    <dgm:cxn modelId="{1AE48064-9865-4635-A775-2138C57917ED}" type="presParOf" srcId="{AE9AE3C6-602B-492E-A6FF-668B9C3EF797}" destId="{1FD7197D-BFA4-4E67-8D03-39A197ADCDA4}" srcOrd="3" destOrd="0" presId="urn:microsoft.com/office/officeart/2016/7/layout/BasicLinearProcessNumbered"/>
    <dgm:cxn modelId="{E0868193-6EDA-47A6-9A0A-10D0877DDDA7}" type="presParOf" srcId="{04E8D98D-2148-4B08-8EEC-149317F38648}" destId="{C1A8BAB1-C95B-4676-8CB3-6E916770049C}" srcOrd="11" destOrd="0" presId="urn:microsoft.com/office/officeart/2016/7/layout/BasicLinearProcessNumbered"/>
    <dgm:cxn modelId="{6368C7D3-C278-44ED-B457-612DA879AE3A}" type="presParOf" srcId="{04E8D98D-2148-4B08-8EEC-149317F38648}" destId="{2982C03D-39FD-4D9D-AD5C-26DE40322534}" srcOrd="12" destOrd="0" presId="urn:microsoft.com/office/officeart/2016/7/layout/BasicLinearProcessNumbered"/>
    <dgm:cxn modelId="{145471BA-FE90-4A05-B8C0-1215FA8C0B5A}" type="presParOf" srcId="{2982C03D-39FD-4D9D-AD5C-26DE40322534}" destId="{6424192D-D232-4791-B49D-44ECB10EF36E}" srcOrd="0" destOrd="0" presId="urn:microsoft.com/office/officeart/2016/7/layout/BasicLinearProcessNumbered"/>
    <dgm:cxn modelId="{6B9DAA0F-4E33-43C3-9F63-8C8E8419B761}" type="presParOf" srcId="{2982C03D-39FD-4D9D-AD5C-26DE40322534}" destId="{6C9136AF-485D-49F2-9C63-11C28F68C8A7}" srcOrd="1" destOrd="0" presId="urn:microsoft.com/office/officeart/2016/7/layout/BasicLinearProcessNumbered"/>
    <dgm:cxn modelId="{AA7FA149-F426-4F0A-AFAA-EDCA53439AEE}" type="presParOf" srcId="{2982C03D-39FD-4D9D-AD5C-26DE40322534}" destId="{EECDD2E9-7082-4268-AE32-CD3AE8ECD0EC}" srcOrd="2" destOrd="0" presId="urn:microsoft.com/office/officeart/2016/7/layout/BasicLinearProcessNumbered"/>
    <dgm:cxn modelId="{D78F78F2-1AA4-4356-BDE1-4DA361E94E05}" type="presParOf" srcId="{2982C03D-39FD-4D9D-AD5C-26DE40322534}" destId="{8B25ABE7-E4CF-44EB-8FCA-255C62782B8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5ED91-1594-469C-B285-577021CBCEEB}">
      <dsp:nvSpPr>
        <dsp:cNvPr id="0" name=""/>
        <dsp:cNvSpPr/>
      </dsp:nvSpPr>
      <dsp:spPr>
        <a:xfrm>
          <a:off x="9242" y="1208829"/>
          <a:ext cx="1381199" cy="19336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Take the raw dataset and train without preprocessing with YOLO11</a:t>
          </a:r>
          <a:endParaRPr lang="en-US" sz="1100" kern="1200"/>
        </a:p>
      </dsp:txBody>
      <dsp:txXfrm>
        <a:off x="9242" y="1943627"/>
        <a:ext cx="1381199" cy="1160207"/>
      </dsp:txXfrm>
    </dsp:sp>
    <dsp:sp modelId="{9C1633B5-4A82-4592-BF49-89DC770AF0CE}">
      <dsp:nvSpPr>
        <dsp:cNvPr id="0" name=""/>
        <dsp:cNvSpPr/>
      </dsp:nvSpPr>
      <dsp:spPr>
        <a:xfrm>
          <a:off x="409790" y="1402197"/>
          <a:ext cx="580103" cy="5801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</a:t>
          </a:r>
        </a:p>
      </dsp:txBody>
      <dsp:txXfrm>
        <a:off x="494744" y="1487151"/>
        <a:ext cx="410195" cy="410195"/>
      </dsp:txXfrm>
    </dsp:sp>
    <dsp:sp modelId="{B137E7E6-55D9-43F9-BE82-4C70DDC21E3F}">
      <dsp:nvSpPr>
        <dsp:cNvPr id="0" name=""/>
        <dsp:cNvSpPr/>
      </dsp:nvSpPr>
      <dsp:spPr>
        <a:xfrm>
          <a:off x="9242" y="3142436"/>
          <a:ext cx="138119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0B02DA-7897-4C04-9695-8FCC8CC684B1}">
      <dsp:nvSpPr>
        <dsp:cNvPr id="0" name=""/>
        <dsp:cNvSpPr/>
      </dsp:nvSpPr>
      <dsp:spPr>
        <a:xfrm>
          <a:off x="1528561" y="1208829"/>
          <a:ext cx="1381199" cy="19336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Changed to YOLO26 Model</a:t>
          </a:r>
          <a:endParaRPr lang="en-US" sz="1100" kern="1200"/>
        </a:p>
      </dsp:txBody>
      <dsp:txXfrm>
        <a:off x="1528561" y="1943627"/>
        <a:ext cx="1381199" cy="1160207"/>
      </dsp:txXfrm>
    </dsp:sp>
    <dsp:sp modelId="{E72570FE-1267-4BDF-A272-1DBB3A93C006}">
      <dsp:nvSpPr>
        <dsp:cNvPr id="0" name=""/>
        <dsp:cNvSpPr/>
      </dsp:nvSpPr>
      <dsp:spPr>
        <a:xfrm>
          <a:off x="1929109" y="1402197"/>
          <a:ext cx="580103" cy="5801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2</a:t>
          </a:r>
        </a:p>
      </dsp:txBody>
      <dsp:txXfrm>
        <a:off x="2014063" y="1487151"/>
        <a:ext cx="410195" cy="410195"/>
      </dsp:txXfrm>
    </dsp:sp>
    <dsp:sp modelId="{BE412821-72D1-4870-B613-300843BC242A}">
      <dsp:nvSpPr>
        <dsp:cNvPr id="0" name=""/>
        <dsp:cNvSpPr/>
      </dsp:nvSpPr>
      <dsp:spPr>
        <a:xfrm>
          <a:off x="1528561" y="3142436"/>
          <a:ext cx="138119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C56FDA-DC07-425B-A738-60CB8B456411}">
      <dsp:nvSpPr>
        <dsp:cNvPr id="0" name=""/>
        <dsp:cNvSpPr/>
      </dsp:nvSpPr>
      <dsp:spPr>
        <a:xfrm>
          <a:off x="3047880" y="1208829"/>
          <a:ext cx="1381199" cy="19336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Preprocess and remove blurry images</a:t>
          </a:r>
          <a:endParaRPr lang="en-US" sz="1100" kern="1200"/>
        </a:p>
      </dsp:txBody>
      <dsp:txXfrm>
        <a:off x="3047880" y="1943627"/>
        <a:ext cx="1381199" cy="1160207"/>
      </dsp:txXfrm>
    </dsp:sp>
    <dsp:sp modelId="{824DBA6E-2E6A-4A99-B3E2-F2317956F616}">
      <dsp:nvSpPr>
        <dsp:cNvPr id="0" name=""/>
        <dsp:cNvSpPr/>
      </dsp:nvSpPr>
      <dsp:spPr>
        <a:xfrm>
          <a:off x="3448428" y="1402197"/>
          <a:ext cx="580103" cy="5801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3</a:t>
          </a:r>
        </a:p>
      </dsp:txBody>
      <dsp:txXfrm>
        <a:off x="3533382" y="1487151"/>
        <a:ext cx="410195" cy="410195"/>
      </dsp:txXfrm>
    </dsp:sp>
    <dsp:sp modelId="{36836F79-750C-4C31-8F1A-903A13181D95}">
      <dsp:nvSpPr>
        <dsp:cNvPr id="0" name=""/>
        <dsp:cNvSpPr/>
      </dsp:nvSpPr>
      <dsp:spPr>
        <a:xfrm>
          <a:off x="3047880" y="3142436"/>
          <a:ext cx="138119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ED6BB98-E9DD-42AE-9D42-9E00FEB4F023}">
      <dsp:nvSpPr>
        <dsp:cNvPr id="0" name=""/>
        <dsp:cNvSpPr/>
      </dsp:nvSpPr>
      <dsp:spPr>
        <a:xfrm>
          <a:off x="4567200" y="1208829"/>
          <a:ext cx="1381199" cy="19336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Limit to classes with enough data (from 12 to 8 classes)</a:t>
          </a:r>
          <a:endParaRPr lang="en-US" sz="1100" kern="1200"/>
        </a:p>
      </dsp:txBody>
      <dsp:txXfrm>
        <a:off x="4567200" y="1943627"/>
        <a:ext cx="1381199" cy="1160207"/>
      </dsp:txXfrm>
    </dsp:sp>
    <dsp:sp modelId="{A37A2E00-1A83-472A-8AEE-CAC4BC09B806}">
      <dsp:nvSpPr>
        <dsp:cNvPr id="0" name=""/>
        <dsp:cNvSpPr/>
      </dsp:nvSpPr>
      <dsp:spPr>
        <a:xfrm>
          <a:off x="4967748" y="1402197"/>
          <a:ext cx="580103" cy="5801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4</a:t>
          </a:r>
        </a:p>
      </dsp:txBody>
      <dsp:txXfrm>
        <a:off x="5052702" y="1487151"/>
        <a:ext cx="410195" cy="410195"/>
      </dsp:txXfrm>
    </dsp:sp>
    <dsp:sp modelId="{91F3D958-D578-4B07-9923-0492139E4BA3}">
      <dsp:nvSpPr>
        <dsp:cNvPr id="0" name=""/>
        <dsp:cNvSpPr/>
      </dsp:nvSpPr>
      <dsp:spPr>
        <a:xfrm>
          <a:off x="4567200" y="3142436"/>
          <a:ext cx="138119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9883F39-BC52-4E2D-8DDE-DB1C32BFF77D}">
      <dsp:nvSpPr>
        <dsp:cNvPr id="0" name=""/>
        <dsp:cNvSpPr/>
      </dsp:nvSpPr>
      <dsp:spPr>
        <a:xfrm>
          <a:off x="6086519" y="1208829"/>
          <a:ext cx="1381199" cy="19336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Change Dataset and limit to only 1 class (animal or no animal)</a:t>
          </a:r>
        </a:p>
      </dsp:txBody>
      <dsp:txXfrm>
        <a:off x="6086519" y="1943627"/>
        <a:ext cx="1381199" cy="1160207"/>
      </dsp:txXfrm>
    </dsp:sp>
    <dsp:sp modelId="{2C27B766-390C-4D96-BC5A-3098C56ED480}">
      <dsp:nvSpPr>
        <dsp:cNvPr id="0" name=""/>
        <dsp:cNvSpPr/>
      </dsp:nvSpPr>
      <dsp:spPr>
        <a:xfrm>
          <a:off x="6487067" y="1402197"/>
          <a:ext cx="580103" cy="5801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5</a:t>
          </a:r>
        </a:p>
      </dsp:txBody>
      <dsp:txXfrm>
        <a:off x="6572021" y="1487151"/>
        <a:ext cx="410195" cy="410195"/>
      </dsp:txXfrm>
    </dsp:sp>
    <dsp:sp modelId="{519B30CF-9A00-4839-A907-ED3E9BDE75FD}">
      <dsp:nvSpPr>
        <dsp:cNvPr id="0" name=""/>
        <dsp:cNvSpPr/>
      </dsp:nvSpPr>
      <dsp:spPr>
        <a:xfrm>
          <a:off x="6086519" y="3142436"/>
          <a:ext cx="138119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E9F1305-1C03-466C-BA15-898AA0F7AB86}">
      <dsp:nvSpPr>
        <dsp:cNvPr id="0" name=""/>
        <dsp:cNvSpPr/>
      </dsp:nvSpPr>
      <dsp:spPr>
        <a:xfrm>
          <a:off x="7605839" y="1208829"/>
          <a:ext cx="1381199" cy="19336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latin typeface="Aptos Display" panose="02110004020202020204"/>
            </a:rPr>
            <a:t>Improved</a:t>
          </a:r>
          <a:r>
            <a:rPr lang="en-GB" sz="1100" kern="1200" dirty="0"/>
            <a:t> Annotations </a:t>
          </a:r>
          <a:r>
            <a:rPr lang="en-GB" sz="1100" kern="1200" dirty="0">
              <a:latin typeface="Aptos Display" panose="02110004020202020204"/>
            </a:rPr>
            <a:t>for ~9k samples </a:t>
          </a:r>
          <a:r>
            <a:rPr lang="en-GB" sz="1100" kern="1200" dirty="0"/>
            <a:t>on ROBOFLOW</a:t>
          </a:r>
          <a:endParaRPr lang="en-US" sz="1100" kern="1200" dirty="0"/>
        </a:p>
      </dsp:txBody>
      <dsp:txXfrm>
        <a:off x="7605839" y="1943627"/>
        <a:ext cx="1381199" cy="1160207"/>
      </dsp:txXfrm>
    </dsp:sp>
    <dsp:sp modelId="{AB0EE749-79CD-47C8-B4EF-9E66A8840987}">
      <dsp:nvSpPr>
        <dsp:cNvPr id="0" name=""/>
        <dsp:cNvSpPr/>
      </dsp:nvSpPr>
      <dsp:spPr>
        <a:xfrm>
          <a:off x="8006386" y="1402197"/>
          <a:ext cx="580103" cy="5801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6</a:t>
          </a:r>
        </a:p>
      </dsp:txBody>
      <dsp:txXfrm>
        <a:off x="8091340" y="1487151"/>
        <a:ext cx="410195" cy="410195"/>
      </dsp:txXfrm>
    </dsp:sp>
    <dsp:sp modelId="{A639E6A8-6F6A-4980-A25A-800D4CF3C33B}">
      <dsp:nvSpPr>
        <dsp:cNvPr id="0" name=""/>
        <dsp:cNvSpPr/>
      </dsp:nvSpPr>
      <dsp:spPr>
        <a:xfrm>
          <a:off x="7605839" y="3142436"/>
          <a:ext cx="138119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424192D-D232-4791-B49D-44ECB10EF36E}">
      <dsp:nvSpPr>
        <dsp:cNvPr id="0" name=""/>
        <dsp:cNvSpPr/>
      </dsp:nvSpPr>
      <dsp:spPr>
        <a:xfrm>
          <a:off x="9125158" y="1208829"/>
          <a:ext cx="1381199" cy="19336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684" tIns="330200" rIns="107684" bIns="330200" numCol="1" spcCol="1270" anchor="t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110004020202020204"/>
            </a:rPr>
            <a:t>Fine-tuned YOLO parameters</a:t>
          </a:r>
          <a:br>
            <a:rPr lang="en-US" sz="1100" kern="1200" dirty="0">
              <a:latin typeface="Aptos Display" panose="02110004020202020204"/>
            </a:rPr>
          </a:br>
          <a:r>
            <a:rPr lang="en-US" sz="1100" kern="1200" dirty="0">
              <a:latin typeface="Aptos Display" panose="02110004020202020204"/>
            </a:rPr>
            <a:t>Increased image size to 1024</a:t>
          </a:r>
          <a:endParaRPr lang="en-GB" sz="1100" kern="1200" dirty="0">
            <a:latin typeface="Aptos Display" panose="02110004020202020204"/>
          </a:endParaRPr>
        </a:p>
      </dsp:txBody>
      <dsp:txXfrm>
        <a:off x="9125158" y="1943627"/>
        <a:ext cx="1381199" cy="1160207"/>
      </dsp:txXfrm>
    </dsp:sp>
    <dsp:sp modelId="{6C9136AF-485D-49F2-9C63-11C28F68C8A7}">
      <dsp:nvSpPr>
        <dsp:cNvPr id="0" name=""/>
        <dsp:cNvSpPr/>
      </dsp:nvSpPr>
      <dsp:spPr>
        <a:xfrm>
          <a:off x="9525706" y="1402197"/>
          <a:ext cx="580103" cy="5801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227" tIns="12700" rIns="45227" bIns="1270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7</a:t>
          </a:r>
        </a:p>
      </dsp:txBody>
      <dsp:txXfrm>
        <a:off x="9610660" y="1487151"/>
        <a:ext cx="410195" cy="410195"/>
      </dsp:txXfrm>
    </dsp:sp>
    <dsp:sp modelId="{EECDD2E9-7082-4268-AE32-CD3AE8ECD0EC}">
      <dsp:nvSpPr>
        <dsp:cNvPr id="0" name=""/>
        <dsp:cNvSpPr/>
      </dsp:nvSpPr>
      <dsp:spPr>
        <a:xfrm>
          <a:off x="9125158" y="3142436"/>
          <a:ext cx="138119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101EF766-B62E-491A-8767-FDE12B707934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097E44F2-275E-419E-B9F5-B72B36759783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219021F2-6E82-4224-86D7-58BD8DC1825D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4T16:50:44.7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1,'2'0,"23"-1,1 1,-1 2,1 0,-1 2,43 11,-47-11,0 0,0-1,1-1,-1-1,1-1,26-3,16 1,-4 3,67-3,-77-5,-33 4,0 0,23 0,26 5,71-3,-87-7,-32 5,0 1,20-1,1474 4,-1499-1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4T16:50:46.4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0,'593'0,"-415"16,33-6,-126-4,-6 0,78 3,240-10,-313 9,-58-4,35 1,468-6,-513 0,-1-1,22-4,4-2,37-6,-65 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4T17:20:24.6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0,'250'0,"-236"1,0 1,21 4,-21-3,0-1,24 1,68 6,-87-9,-1 0,27 6,-32-5,22 1,-23-2,1 1,12 2,-1 0,1-1,0-1,25-3,0 1,-27 1,0-1,24-4,9-5,-49 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9A6AE-8695-4B5C-A16E-F2A3B1AD32CF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6601D-0B4C-4F56-A64D-FCD93BC55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87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6601D-0B4C-4F56-A64D-FCD93BC552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499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A08E-265B-8125-80DC-5665BCF8B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CB184-15E0-7921-BCCE-B9AE334BD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700B-A808-C162-DCB9-4F3C39FD6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BEB94-0B08-AF06-F20A-DDE7B7A55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C730C-1664-8936-6ECC-75CB7540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3431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81EBE-C273-579C-BA58-24C87EB4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CD9DD-89FF-01C2-CBB8-C1018D076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C7BAD-3556-05A3-BB30-1517A550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B8C00-95CF-FD90-9D8D-8F0CF6CB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4B199-D5C6-D1B7-6775-F62D95DA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881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2F67-AA4B-1ED9-942E-EF24FFBD9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625E6-A8B7-D895-19F8-17C2A2686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0A9F2-C9E4-2014-A1D2-A4E9010B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C0C32-3096-AC9B-C154-1C4851E5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C4F93-6CA6-6B5F-F591-CC5F2685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425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79198-ED1A-0C9C-AF69-8524E68F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249CF-B768-82CE-270A-918F44FAC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37759-F495-F954-B690-9E6C69C3E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637F7-FA97-0A06-105B-B2A8CB85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9FE5D-54BD-B18A-E424-E354C4D16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99865-4F89-A0F2-E48E-417139F2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28732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BD35-8486-ABBA-297D-7FA6689AF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ED3A8-7C28-940D-A30D-B7C3274B0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B7584-0E50-671E-EC6F-796546E7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5E587-32F9-0216-9B33-3681967EB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B9760-4313-DE82-7D2D-749C460B9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2C310B-A1E3-FD0B-F368-0001A0BD0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6A5BE-9A52-08DE-5E67-E79740793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67BC10-E52E-CE74-DFB0-08C13A48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1525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244C-1C3F-2B07-6E7F-20330567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1755F-AAB3-ED97-D38D-BD16C92B0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E30BC-928E-F490-0D1A-BA5B6912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AD5F5-25F4-0B73-4B9D-79770765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418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9153E-7C4E-689C-5C5E-86A41047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1FAEE-4544-6B00-C6EE-D25D90DA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C378E-3001-6D24-0744-BBB6FFAA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40334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4853-FC23-3034-AF3C-7E0C51D2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80AE5-F869-EB0C-C832-36760FF78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A0D89-0203-EE64-98CE-F3A9CAEF9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C9F87-2BF6-4943-8AE2-7636E26B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0A7D6-A795-DC56-9CDA-662C74C4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74ACE-0CFB-9287-6B0F-2CA408B6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986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045B-F213-F0C0-2F6B-B375FF823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E4EC6-4C18-F99F-51A0-CE91E5B9F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D9094-6EBA-B32E-D517-A796B6E88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B23D1-93A5-17AB-1E05-C27D3B12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BAB6C-193E-039A-9233-8AE55A8D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29B2C-DFDE-F736-EE0E-1A9E6B05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2319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6994-A467-2EB5-DF3C-3D788A034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72EAB-5477-C141-CAD1-09F9691D0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B8C38-3865-15AA-0AB1-761C624D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142AC-F8EE-CC7B-50DE-0CF50ED8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3D959-DE37-61BF-7D6C-51AC7DB9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8821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7EAEA0-CAC0-563E-DEFB-9D7CB9C4D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1DF77-D018-C9EF-4C3F-C3F4B38A6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526C7-1E23-EE39-73EF-413D71D0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4420-7324-5C1D-53FD-A4C516B1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DB2F7-A1D6-C160-6B6A-B612EFBE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4175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4632C6-0709-B951-D72F-246129414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1CDF2-6C5F-2F18-CE60-E0A668DF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20A44-E186-9392-D4CA-A1EBFC319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F41C6-9024-4081-B6C1-2C4F6E757048}" type="datetimeFigureOut">
              <a:rPr lang="en-AT" smtClean="0"/>
              <a:t>22/06/2026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5C39-40EC-BA78-3670-4EA71F36C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9BFAE-03C8-93A9-A3B5-56DF79528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3660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customXml" Target="../ink/ink3.xml"/><Relationship Id="rId7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86177-5519-D776-FA77-082496125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GB" sz="5400"/>
              <a:t>Project Presentation</a:t>
            </a:r>
            <a:endParaRPr lang="en-AT" sz="5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8171F-4C0B-C260-050D-CECE15D24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GB" b="1"/>
              <a:t>Drone-based Wildlife Detection and Movement Analysis</a:t>
            </a:r>
            <a:endParaRPr lang="en-GB"/>
          </a:p>
          <a:p>
            <a:pPr algn="l"/>
            <a:endParaRPr lang="en-AT"/>
          </a:p>
        </p:txBody>
      </p:sp>
      <p:sp>
        <p:nvSpPr>
          <p:cNvPr id="3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74DAD-14D0-C996-2E30-551A23810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039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18166-0C59-DF71-39D4-94E49E173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120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Members of FLYING HIRSCH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7BFB894-AF0C-F2DF-A7BF-55D9187B55E2}"/>
              </a:ext>
            </a:extLst>
          </p:cNvPr>
          <p:cNvSpPr txBox="1">
            <a:spLocks/>
          </p:cNvSpPr>
          <p:nvPr/>
        </p:nvSpPr>
        <p:spPr>
          <a:xfrm>
            <a:off x="1945164" y="2921938"/>
            <a:ext cx="1671483" cy="3506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/>
              <a:t>Karim Ortner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T" sz="200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3F24F78-3F22-4445-8952-9F4BCB7E83D1}"/>
              </a:ext>
            </a:extLst>
          </p:cNvPr>
          <p:cNvSpPr txBox="1">
            <a:spLocks/>
          </p:cNvSpPr>
          <p:nvPr/>
        </p:nvSpPr>
        <p:spPr>
          <a:xfrm>
            <a:off x="8058931" y="2901549"/>
            <a:ext cx="1561435" cy="39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/>
              <a:t>Jonas Welt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T" sz="200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BB8F36E-6354-B3D4-6AC9-E65423304BFD}"/>
              </a:ext>
            </a:extLst>
          </p:cNvPr>
          <p:cNvSpPr txBox="1">
            <a:spLocks/>
          </p:cNvSpPr>
          <p:nvPr/>
        </p:nvSpPr>
        <p:spPr>
          <a:xfrm>
            <a:off x="4711612" y="2901549"/>
            <a:ext cx="2142305" cy="39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/>
              <a:t>Lorenz Schlosser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T" sz="2000"/>
          </a:p>
        </p:txBody>
      </p:sp>
      <p:pic>
        <p:nvPicPr>
          <p:cNvPr id="26" name="Picture 2" descr="Hirsch Icon im Color Hand Drawn-Stil">
            <a:extLst>
              <a:ext uri="{FF2B5EF4-FFF2-40B4-BE49-F238E27FC236}">
                <a16:creationId xmlns:a16="http://schemas.microsoft.com/office/drawing/2014/main" id="{C4AFA31E-0037-C68B-D2BE-8974395B8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173" y="538120"/>
            <a:ext cx="2165180" cy="216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Hase - Kostenlose tiere-Icons">
            <a:extLst>
              <a:ext uri="{FF2B5EF4-FFF2-40B4-BE49-F238E27FC236}">
                <a16:creationId xmlns:a16="http://schemas.microsoft.com/office/drawing/2014/main" id="{1DAF3EE1-6034-5D6C-2CA7-0E33CF908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612" y="5601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 descr="Fuchs Logo Vektorgrafiken und Vektor-Icons zum kostenlosen Download">
            <a:extLst>
              <a:ext uri="{FF2B5EF4-FFF2-40B4-BE49-F238E27FC236}">
                <a16:creationId xmlns:a16="http://schemas.microsoft.com/office/drawing/2014/main" id="{499A26EE-EADE-FF05-EAC6-402DE4396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014" y="538120"/>
            <a:ext cx="2165180" cy="216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60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94045-B1F2-09CB-F1C0-E5F35A7C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75" y="548640"/>
            <a:ext cx="4135033" cy="5431536"/>
          </a:xfrm>
        </p:spPr>
        <p:txBody>
          <a:bodyPr>
            <a:normAutofit/>
          </a:bodyPr>
          <a:lstStyle/>
          <a:p>
            <a:pPr algn="ctr"/>
            <a:r>
              <a:rPr lang="en-GB" sz="5400"/>
              <a:t>Task</a:t>
            </a:r>
            <a:endParaRPr lang="en-AT" sz="5400"/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53980-30CA-AC07-B98E-1B8C873D2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GB" sz="2200"/>
              <a:t>“Develop a computer vision pipeline that </a:t>
            </a:r>
            <a:r>
              <a:rPr lang="en-GB" sz="2200" b="1"/>
              <a:t>classifies if there is an animal </a:t>
            </a:r>
            <a:r>
              <a:rPr lang="en-GB" sz="2200"/>
              <a:t>(species) and </a:t>
            </a:r>
            <a:r>
              <a:rPr lang="en-GB" sz="2200" b="1"/>
              <a:t>tracks their movement </a:t>
            </a:r>
            <a:r>
              <a:rPr lang="en-GB" sz="2200"/>
              <a:t>over time.“</a:t>
            </a:r>
          </a:p>
          <a:p>
            <a:pPr marL="457200" lvl="1" indent="0">
              <a:buNone/>
            </a:pPr>
            <a:endParaRPr lang="en-GB" sz="2200"/>
          </a:p>
          <a:p>
            <a:pPr marL="457200" lvl="1" indent="0">
              <a:buNone/>
            </a:pPr>
            <a:r>
              <a:rPr lang="en-GB" sz="2200"/>
              <a:t>“The system will produce </a:t>
            </a:r>
            <a:r>
              <a:rPr lang="en-GB" sz="2200" b="1"/>
              <a:t>bounding boxes </a:t>
            </a:r>
            <a:r>
              <a:rPr lang="en-GB" sz="2200"/>
              <a:t>(with class labels), assign unique IDs to each animal across frames and analyse </a:t>
            </a:r>
            <a:r>
              <a:rPr lang="en-GB" sz="2200" b="1"/>
              <a:t>movement patterns </a:t>
            </a:r>
            <a:r>
              <a:rPr lang="en-GB" sz="2200"/>
              <a:t>such as trajectories and spatial distribution.“</a:t>
            </a:r>
          </a:p>
          <a:p>
            <a:pPr marL="457200" lvl="1" indent="0">
              <a:buNone/>
            </a:pPr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123564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0C8F8-0F5B-544B-BC96-12314789D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D937-EBD4-57B1-1450-745C9E6BE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b="1"/>
              <a:t>Choose &amp; Explore Dataset</a:t>
            </a:r>
          </a:p>
          <a:p>
            <a:r>
              <a:rPr lang="en-GB" sz="2200"/>
              <a:t>Data Preprocessing &amp; Annotation</a:t>
            </a:r>
          </a:p>
          <a:p>
            <a:r>
              <a:rPr lang="en-GB" sz="2200"/>
              <a:t>Train Object-detection</a:t>
            </a:r>
          </a:p>
          <a:p>
            <a:r>
              <a:rPr lang="en-GB" sz="2200"/>
              <a:t>Train Object-tracking</a:t>
            </a:r>
          </a:p>
          <a:p>
            <a:r>
              <a:rPr lang="en-GB" sz="2200"/>
              <a:t>Evaluate Model and create Statistics</a:t>
            </a:r>
          </a:p>
          <a:p>
            <a:r>
              <a:rPr lang="en-GB" sz="2200"/>
              <a:t>Visualize Result</a:t>
            </a:r>
            <a:endParaRPr lang="en-AT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91FA81-E4AA-8790-556F-7D2AA9469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09E718-4EDA-7DA4-7443-2BBE82095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058139" y="3885085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BC4F0B-3E8E-27A7-89AF-03F3F6FD5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9" b="16234"/>
          <a:stretch>
            <a:fillRect/>
          </a:stretch>
        </p:blipFill>
        <p:spPr>
          <a:xfrm>
            <a:off x="9156700" y="4425028"/>
            <a:ext cx="2898488" cy="1868269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4229BE31-0A0F-780B-1D1D-20D3B20DD7FA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849079" y="2440905"/>
            <a:ext cx="992972" cy="18953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81BEB5E8-60AC-36D6-F59F-091FECF12B60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183144" y="3002227"/>
            <a:ext cx="1532915" cy="131268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934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AB6DA-9746-1843-F55A-D3C34C65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1370"/>
            <a:ext cx="5295015" cy="1825266"/>
          </a:xfrm>
        </p:spPr>
        <p:txBody>
          <a:bodyPr anchor="b">
            <a:normAutofit/>
          </a:bodyPr>
          <a:lstStyle/>
          <a:p>
            <a:r>
              <a:rPr lang="en-GB" sz="5400"/>
              <a:t>Dataset - ALFS</a:t>
            </a:r>
            <a:endParaRPr lang="en-AT" sz="540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6CC12-BA35-8211-65FB-78EEC10DA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>
            <a:normAutofit/>
          </a:bodyPr>
          <a:lstStyle/>
          <a:p>
            <a:r>
              <a:rPr lang="en-GB" sz="2200" dirty="0"/>
              <a:t>Advantage: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Annotated Animal species</a:t>
            </a:r>
            <a:endParaRPr lang="en-GB" sz="2200" dirty="0"/>
          </a:p>
          <a:p>
            <a:r>
              <a:rPr lang="en-GB" sz="2200" dirty="0"/>
              <a:t>Disadvantage: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very blurry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weird shapes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Huge class imbalance</a:t>
            </a:r>
            <a:br>
              <a:rPr lang="en-GB" sz="2200" dirty="0"/>
            </a:br>
            <a:endParaRPr lang="en-AT" sz="2200" dirty="0"/>
          </a:p>
          <a:p>
            <a:endParaRPr lang="en-AT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F41565-DEFF-C5FE-D737-A2105D8A9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97" y="3429000"/>
            <a:ext cx="2603605" cy="25710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039914-6120-7143-596D-8030D7AA5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328" y="3950972"/>
            <a:ext cx="2603605" cy="15271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FD022A-648D-1254-B009-5F030696E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397" y="942410"/>
            <a:ext cx="5431536" cy="2213351"/>
          </a:xfrm>
          <a:prstGeom prst="rect">
            <a:avLst/>
          </a:prstGeom>
        </p:spPr>
      </p:pic>
      <p:pic>
        <p:nvPicPr>
          <p:cNvPr id="4" name="Picture 3" descr="A yellow line with black text&#10;&#10;AI-generated content may be incorrect.">
            <a:extLst>
              <a:ext uri="{FF2B5EF4-FFF2-40B4-BE49-F238E27FC236}">
                <a16:creationId xmlns:a16="http://schemas.microsoft.com/office/drawing/2014/main" id="{FF091067-412A-66D9-C6E1-6767A0641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484" y="5302763"/>
            <a:ext cx="6215782" cy="101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6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091B8-E1FF-7750-3A8E-1B1233413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/>
              <a:t>Dataset:</a:t>
            </a:r>
            <a:br>
              <a:rPr lang="en-GB" sz="3800"/>
            </a:br>
            <a:r>
              <a:rPr lang="en-GB" sz="3200"/>
              <a:t>Matched Frames Subset of the BAMBI UAV Wildlife Dataset</a:t>
            </a:r>
            <a:endParaRPr lang="en-AT" sz="38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1F96A-4457-A16E-86C5-47FF965E2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>
              <a:buFont typeface="Aptos" panose="020B0004020202020204" pitchFamily="34" charset="0"/>
              <a:buChar char="+"/>
            </a:pPr>
            <a:r>
              <a:rPr lang="en-GB" sz="2200" dirty="0"/>
              <a:t>Better quality</a:t>
            </a:r>
          </a:p>
          <a:p>
            <a:pPr>
              <a:buFont typeface="Aptos" panose="020B0004020202020204" pitchFamily="34" charset="0"/>
              <a:buChar char="-"/>
            </a:pPr>
            <a:r>
              <a:rPr lang="en-GB" sz="2200" dirty="0"/>
              <a:t>Less labels</a:t>
            </a:r>
          </a:p>
          <a:p>
            <a:pPr>
              <a:buFont typeface="Aptos" panose="020B0004020202020204" pitchFamily="34" charset="0"/>
              <a:buChar char="-"/>
            </a:pPr>
            <a:r>
              <a:rPr lang="en-GB" sz="2200" dirty="0"/>
              <a:t>No species</a:t>
            </a:r>
          </a:p>
          <a:p>
            <a:pPr marL="0" indent="0">
              <a:buNone/>
            </a:pPr>
            <a:endParaRPr lang="en-GB" sz="2200" dirty="0"/>
          </a:p>
          <a:p>
            <a:r>
              <a:rPr lang="en-GB" sz="2200" dirty="0"/>
              <a:t>Matched </a:t>
            </a:r>
          </a:p>
          <a:p>
            <a:pPr lvl="1"/>
            <a:r>
              <a:rPr lang="en-GB" sz="2200" dirty="0"/>
              <a:t>Train/Val/Test Splits</a:t>
            </a:r>
          </a:p>
          <a:p>
            <a:pPr lvl="1"/>
            <a:r>
              <a:rPr lang="en-GB" sz="2200" dirty="0"/>
              <a:t>Species (class imbalance)</a:t>
            </a:r>
          </a:p>
          <a:p>
            <a:pPr lvl="1"/>
            <a:endParaRPr lang="en-GB" sz="2200" dirty="0"/>
          </a:p>
          <a:p>
            <a:endParaRPr lang="en-GB" sz="2200" dirty="0"/>
          </a:p>
          <a:p>
            <a:endParaRPr lang="en-AT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B4E11-03BD-12C2-F022-588FD41E7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270" y="1030472"/>
            <a:ext cx="4014216" cy="2207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0545CD-CE15-C3C0-0D73-8709865A0E08}"/>
              </a:ext>
            </a:extLst>
          </p:cNvPr>
          <p:cNvSpPr txBox="1"/>
          <p:nvPr/>
        </p:nvSpPr>
        <p:spPr>
          <a:xfrm>
            <a:off x="640080" y="6092254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/>
              <a:t>https://zenodo.org/records/19034999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CA581F-E932-D5EF-1856-9ADA97049479}"/>
              </a:ext>
            </a:extLst>
          </p:cNvPr>
          <p:cNvGrpSpPr/>
          <p:nvPr/>
        </p:nvGrpSpPr>
        <p:grpSpPr>
          <a:xfrm>
            <a:off x="7110662" y="4214622"/>
            <a:ext cx="4751392" cy="2174073"/>
            <a:chOff x="3974159" y="2112264"/>
            <a:chExt cx="5779774" cy="266604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31163D-13E2-938C-66CB-080129038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4159" y="2112264"/>
              <a:ext cx="5779774" cy="2666041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99316B8-BB85-ECD5-A3D1-75A032FDD19E}"/>
                    </a:ext>
                  </a:extLst>
                </p14:cNvPr>
                <p14:cNvContentPartPr/>
                <p14:nvPr/>
              </p14:nvContentPartPr>
              <p14:xfrm>
                <a:off x="4107627" y="2817951"/>
                <a:ext cx="1139400" cy="1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99316B8-BB85-ECD5-A3D1-75A032FDD1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41918" y="2684372"/>
                  <a:ext cx="1270381" cy="2836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E7D9D58-B153-E7C8-FF51-73C95538D796}"/>
                    </a:ext>
                  </a:extLst>
                </p14:cNvPr>
                <p14:cNvContentPartPr/>
                <p14:nvPr/>
              </p14:nvContentPartPr>
              <p14:xfrm>
                <a:off x="4107627" y="4476471"/>
                <a:ext cx="1139040" cy="28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E7D9D58-B153-E7C8-FF51-73C95538D7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41938" y="4344846"/>
                  <a:ext cx="1269979" cy="290891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E2248E4-2856-A5D5-1CB9-7D42EFE754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0604" y="2663768"/>
            <a:ext cx="3995928" cy="161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086C4-678B-C79C-1B2A-00D7251E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GB" sz="4000"/>
              <a:t>Explore Dataset</a:t>
            </a:r>
            <a:endParaRPr lang="en-AT" sz="40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59E96-E027-29CA-6DD8-C3B0D0B02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GB" sz="1600" b="1"/>
              <a:t>SPLIT</a:t>
            </a:r>
            <a:r>
              <a:rPr lang="en-GB" sz="1600"/>
              <a:t>:</a:t>
            </a:r>
          </a:p>
          <a:p>
            <a:pPr lvl="1"/>
            <a:r>
              <a:rPr lang="en-GB" sz="1600"/>
              <a:t>TRAIN: 	11.391</a:t>
            </a:r>
          </a:p>
          <a:p>
            <a:pPr lvl="1"/>
            <a:r>
              <a:rPr lang="en-GB" sz="1600"/>
              <a:t>TEST:	</a:t>
            </a:r>
            <a:r>
              <a:rPr lang="en-GB" sz="1600">
                <a:solidFill>
                  <a:schemeClr val="bg1"/>
                </a:solidFill>
              </a:rPr>
              <a:t>0</a:t>
            </a:r>
            <a:r>
              <a:rPr lang="en-GB" sz="1600"/>
              <a:t>1.934</a:t>
            </a:r>
          </a:p>
          <a:p>
            <a:pPr lvl="1"/>
            <a:r>
              <a:rPr lang="en-GB" sz="1600"/>
              <a:t>VAL:	</a:t>
            </a:r>
            <a:r>
              <a:rPr lang="en-GB" sz="1600">
                <a:solidFill>
                  <a:schemeClr val="bg1"/>
                </a:solidFill>
              </a:rPr>
              <a:t>0.00</a:t>
            </a:r>
            <a:r>
              <a:rPr lang="en-GB" sz="1600"/>
              <a:t>84</a:t>
            </a:r>
          </a:p>
          <a:p>
            <a:r>
              <a:rPr lang="en-GB" sz="1800" b="1"/>
              <a:t>Size / Labels</a:t>
            </a:r>
            <a:r>
              <a:rPr lang="en-GB" sz="1800"/>
              <a:t>:</a:t>
            </a:r>
          </a:p>
          <a:p>
            <a:pPr lvl="1"/>
            <a:r>
              <a:rPr lang="en-GB" sz="1600"/>
              <a:t>Size: 1024 x 1024</a:t>
            </a:r>
          </a:p>
          <a:p>
            <a:pPr lvl="1"/>
            <a:r>
              <a:rPr lang="en-AT" sz="1600"/>
              <a:t>Min area: 21.00</a:t>
            </a:r>
            <a:r>
              <a:rPr lang="en-GB" sz="1600"/>
              <a:t> px²</a:t>
            </a:r>
            <a:endParaRPr lang="en-AT" sz="1600"/>
          </a:p>
          <a:p>
            <a:pPr lvl="1"/>
            <a:r>
              <a:rPr lang="en-AT" sz="1600"/>
              <a:t>Max area: 61620.40</a:t>
            </a:r>
            <a:r>
              <a:rPr lang="en-GB" sz="1600"/>
              <a:t> px²</a:t>
            </a:r>
            <a:endParaRPr lang="en-AT" sz="1600"/>
          </a:p>
          <a:p>
            <a:pPr lvl="1"/>
            <a:r>
              <a:rPr lang="en-AT" sz="1600"/>
              <a:t>Avg area: 1922.42</a:t>
            </a:r>
            <a:r>
              <a:rPr lang="en-GB" sz="1600"/>
              <a:t> px²</a:t>
            </a:r>
            <a:endParaRPr lang="en-GB" sz="1800"/>
          </a:p>
          <a:p>
            <a:r>
              <a:rPr lang="en-GB" sz="1800"/>
              <a:t>Huge </a:t>
            </a:r>
            <a:r>
              <a:rPr lang="en-GB" sz="1800" b="1"/>
              <a:t>class imbalance </a:t>
            </a:r>
            <a:r>
              <a:rPr lang="en-GB" sz="1800"/>
              <a:t>-&gt; every animal = 1class</a:t>
            </a:r>
          </a:p>
          <a:p>
            <a:pPr lvl="1"/>
            <a:endParaRPr lang="en-GB" sz="2000"/>
          </a:p>
          <a:p>
            <a:endParaRPr lang="en-AT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5C052F72-895F-44BA-9837-F648BD9C926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33859" y="559862"/>
            <a:ext cx="3644651" cy="25187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81AEA5-C5EC-4504-7EA5-B12201325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270" y="3707894"/>
            <a:ext cx="4294273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94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32D07-29A2-80BA-2C9E-89E30A6F1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963D8-FCBC-967D-6D37-A744BA560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B1687E-B324-D565-CAFA-613921DBF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74FC27-E267-F91D-9AFD-52B8DACF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DF47F-D6A2-3E72-1D72-4BE00E7A8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dirty="0"/>
              <a:t>Choose &amp; Explore Dataset</a:t>
            </a:r>
          </a:p>
          <a:p>
            <a:r>
              <a:rPr lang="en-GB" sz="2200" b="1" dirty="0"/>
              <a:t>Data Preprocessing &amp; Annotation</a:t>
            </a:r>
          </a:p>
          <a:p>
            <a:r>
              <a:rPr lang="en-GB" sz="2200" dirty="0"/>
              <a:t>Train Object-detection</a:t>
            </a:r>
          </a:p>
          <a:p>
            <a:r>
              <a:rPr lang="en-GB" sz="2200" dirty="0"/>
              <a:t>Train Object-tracking</a:t>
            </a:r>
          </a:p>
          <a:p>
            <a:r>
              <a:rPr lang="en-GB" sz="2200" dirty="0"/>
              <a:t>Evaluate Model and create Statistics</a:t>
            </a:r>
          </a:p>
          <a:p>
            <a:r>
              <a:rPr lang="en-GB" sz="2200" dirty="0"/>
              <a:t>Visualize Result</a:t>
            </a:r>
            <a:endParaRPr lang="en-AT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B744D7-011B-1AA0-5C61-6941E8DAB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D16207-6D27-ADE8-ABDC-C01F48503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058139" y="3885085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25ED81-978A-B8C3-9ABF-D52E9B443B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9" b="16234"/>
          <a:stretch>
            <a:fillRect/>
          </a:stretch>
        </p:blipFill>
        <p:spPr>
          <a:xfrm>
            <a:off x="9156700" y="4425028"/>
            <a:ext cx="2898488" cy="1868269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FB9BE2F7-97CC-D14F-EF70-011A93733E55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849079" y="2440905"/>
            <a:ext cx="992972" cy="18953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2ED832FF-E20B-75A8-7822-740063B77B7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183144" y="3002227"/>
            <a:ext cx="1532915" cy="131268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4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615BD-14A1-D8BB-F664-87A086496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6ED71-17F1-75A8-6E45-24742B397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GB" sz="3700" b="1" dirty="0"/>
              <a:t>Data Preprocessing </a:t>
            </a:r>
            <a:r>
              <a:rPr lang="en-GB" sz="3700" dirty="0"/>
              <a:t>&amp; Annotation</a:t>
            </a:r>
            <a:endParaRPr lang="en-AT" sz="37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129B2-7360-B4F1-019F-3E73E9CFE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2330505"/>
            <a:ext cx="6177631" cy="4317945"/>
          </a:xfrm>
        </p:spPr>
        <p:txBody>
          <a:bodyPr anchor="ctr">
            <a:normAutofit/>
          </a:bodyPr>
          <a:lstStyle/>
          <a:p>
            <a:r>
              <a:rPr lang="en-GB" sz="2400"/>
              <a:t>Clean dataset from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/>
              <a:t>Blurry images (Laplacian)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/>
              <a:t>Black images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/>
              <a:t>Too small / invalid labels</a:t>
            </a:r>
          </a:p>
          <a:p>
            <a:r>
              <a:rPr lang="en-GB" sz="2400"/>
              <a:t>Min-max normalization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AT" sz="2100"/>
              <a:t>Scales each image </a:t>
            </a:r>
            <a:r>
              <a:rPr lang="en-GB" sz="2100"/>
              <a:t>-&gt; </a:t>
            </a:r>
            <a:r>
              <a:rPr lang="en-AT" sz="2100"/>
              <a:t>0–255 range, increasing contrast </a:t>
            </a:r>
            <a:r>
              <a:rPr lang="en-GB" sz="2100"/>
              <a:t>&amp;</a:t>
            </a:r>
            <a:r>
              <a:rPr lang="en-AT" sz="2100"/>
              <a:t> </a:t>
            </a:r>
            <a:r>
              <a:rPr lang="en-GB" sz="2100"/>
              <a:t>make </a:t>
            </a:r>
            <a:r>
              <a:rPr lang="en-AT" sz="2100"/>
              <a:t>animals more visible</a:t>
            </a:r>
            <a:endParaRPr lang="en-GB" sz="2000"/>
          </a:p>
          <a:p>
            <a:r>
              <a:rPr lang="en-GB" sz="2400"/>
              <a:t>Make Train/Val/Test split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/>
              <a:t>Was given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/>
              <a:t>Corrected Split (based on flight id</a:t>
            </a:r>
            <a:r>
              <a:rPr lang="en-GB" sz="2000">
                <a:sym typeface="Wingdings" panose="05000000000000000000" pitchFamily="2" charset="2"/>
              </a:rPr>
              <a:t>)</a:t>
            </a:r>
            <a:endParaRPr lang="en-GB" sz="2000"/>
          </a:p>
          <a:p>
            <a:pPr lvl="1"/>
            <a:endParaRPr lang="en-GB" sz="20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0BA7F6-68BB-6111-4E7A-8DC9BE49F38D}"/>
              </a:ext>
            </a:extLst>
          </p:cNvPr>
          <p:cNvGrpSpPr/>
          <p:nvPr/>
        </p:nvGrpSpPr>
        <p:grpSpPr>
          <a:xfrm>
            <a:off x="7178547" y="3707892"/>
            <a:ext cx="4205321" cy="2518755"/>
            <a:chOff x="5770098" y="4178714"/>
            <a:chExt cx="2981741" cy="178589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41E2BDA-3A67-21A0-BE61-644ACF154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70098" y="4178714"/>
              <a:ext cx="2915057" cy="78115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9BA2B76-31AA-A1D2-02EE-482641136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0098" y="5192980"/>
              <a:ext cx="2981741" cy="771633"/>
            </a:xfrm>
            <a:prstGeom prst="rect">
              <a:avLst/>
            </a:prstGeom>
          </p:spPr>
        </p:pic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052238F3-8435-6449-28AD-46DDD6456C3D}"/>
                </a:ext>
              </a:extLst>
            </p:cNvPr>
            <p:cNvCxnSpPr>
              <a:cxnSpLocks/>
              <a:stCxn id="7" idx="1"/>
              <a:endCxn id="9" idx="1"/>
            </p:cNvCxnSpPr>
            <p:nvPr/>
          </p:nvCxnSpPr>
          <p:spPr>
            <a:xfrm rot="10800000" flipV="1">
              <a:off x="5770098" y="4569293"/>
              <a:ext cx="9005" cy="1009503"/>
            </a:xfrm>
            <a:prstGeom prst="curved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02112EB-804D-8793-CB2A-BDD29BE70D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03349" y="734751"/>
            <a:ext cx="4355715" cy="204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4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6CE31-2F57-CFF3-B684-34CB00F5E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245A1EE-0CBA-B3A6-0187-150EEE1C161A}"/>
              </a:ext>
            </a:extLst>
          </p:cNvPr>
          <p:cNvGrpSpPr/>
          <p:nvPr/>
        </p:nvGrpSpPr>
        <p:grpSpPr>
          <a:xfrm>
            <a:off x="8236730" y="1027904"/>
            <a:ext cx="3866865" cy="3227135"/>
            <a:chOff x="1767968" y="0"/>
            <a:chExt cx="8217493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7CC4B5F-E09A-1001-47CE-9C6193919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67"/>
            <a:stretch>
              <a:fillRect/>
            </a:stretch>
          </p:blipFill>
          <p:spPr>
            <a:xfrm>
              <a:off x="1767968" y="0"/>
              <a:ext cx="8217493" cy="68580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7D631F-10B7-26BA-7CAA-4790A276D534}"/>
                    </a:ext>
                  </a:extLst>
                </p14:cNvPr>
                <p14:cNvContentPartPr/>
                <p14:nvPr/>
              </p14:nvContentPartPr>
              <p14:xfrm>
                <a:off x="5879720" y="6717940"/>
                <a:ext cx="761760" cy="34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7D631F-10B7-26BA-7CAA-4790A276D53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64997" y="6494897"/>
                  <a:ext cx="990441" cy="479543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3FAB64-97DC-AD07-820D-38737929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700" dirty="0"/>
              <a:t>Data Preprocessing &amp; </a:t>
            </a:r>
            <a:r>
              <a:rPr lang="en-GB" sz="3700" b="1" dirty="0"/>
              <a:t>Annotation</a:t>
            </a:r>
            <a:endParaRPr lang="en-AT" sz="3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02BC8-44A4-16CB-AA1C-F0529C7DB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/>
              <a:t>ROBOFLOW</a:t>
            </a:r>
          </a:p>
          <a:p>
            <a:r>
              <a:rPr lang="en-GB" b="1"/>
              <a:t>Annotated 9.338 images </a:t>
            </a:r>
            <a:r>
              <a:rPr lang="en-GB"/>
              <a:t>(train &amp; </a:t>
            </a:r>
            <a:r>
              <a:rPr lang="en-GB" err="1"/>
              <a:t>val</a:t>
            </a:r>
            <a:r>
              <a:rPr lang="en-GB"/>
              <a:t>)</a:t>
            </a:r>
          </a:p>
          <a:p>
            <a:pPr lvl="1"/>
            <a:r>
              <a:rPr lang="en-GB"/>
              <a:t>Removed wrong annotations</a:t>
            </a:r>
          </a:p>
          <a:p>
            <a:pPr lvl="1"/>
            <a:r>
              <a:rPr lang="en-GB"/>
              <a:t>Corrected sizes</a:t>
            </a:r>
          </a:p>
          <a:p>
            <a:pPr lvl="1"/>
            <a:r>
              <a:rPr lang="en-GB"/>
              <a:t>Created new annotations</a:t>
            </a:r>
          </a:p>
          <a:p>
            <a:pPr lvl="1"/>
            <a:r>
              <a:rPr lang="en-GB"/>
              <a:t>used RGB images for better insight</a:t>
            </a:r>
          </a:p>
          <a:p>
            <a:pPr lvl="1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582C92-96B9-6B3C-418E-A0FCE5D4A8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5" y="4692600"/>
            <a:ext cx="2676674" cy="1438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9819A6-5FA5-001F-B486-06D77E7E68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579" y="4692600"/>
            <a:ext cx="2690432" cy="1449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3DAD5B-B647-9261-2E45-CF12BCC7E1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90" y="4686415"/>
            <a:ext cx="2787878" cy="14905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B437E9-68C4-0046-EEFF-7DFD7685C7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24" y="4692600"/>
            <a:ext cx="2676673" cy="1438275"/>
          </a:xfrm>
          <a:prstGeom prst="rect">
            <a:avLst/>
          </a:prstGeom>
        </p:spPr>
      </p:pic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B0868BA7-5CEE-8176-EF71-883403DF054A}"/>
              </a:ext>
            </a:extLst>
          </p:cNvPr>
          <p:cNvCxnSpPr>
            <a:cxnSpLocks/>
            <a:stCxn id="6" idx="2"/>
            <a:endCxn id="14" idx="2"/>
          </p:cNvCxnSpPr>
          <p:nvPr/>
        </p:nvCxnSpPr>
        <p:spPr>
          <a:xfrm rot="16200000" flipH="1">
            <a:off x="2831349" y="4726163"/>
            <a:ext cx="104" cy="2809319"/>
          </a:xfrm>
          <a:prstGeom prst="curvedConnector3">
            <a:avLst>
              <a:gd name="adj1" fmla="val 378657692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6DE6C75C-D54A-DF2D-A982-D18AAA386BFD}"/>
              </a:ext>
            </a:extLst>
          </p:cNvPr>
          <p:cNvCxnSpPr>
            <a:cxnSpLocks/>
            <a:stCxn id="10" idx="2"/>
            <a:endCxn id="12" idx="2"/>
          </p:cNvCxnSpPr>
          <p:nvPr/>
        </p:nvCxnSpPr>
        <p:spPr>
          <a:xfrm rot="16200000" flipH="1">
            <a:off x="8812922" y="4628356"/>
            <a:ext cx="34480" cy="3062734"/>
          </a:xfrm>
          <a:prstGeom prst="curvedConnector3">
            <a:avLst>
              <a:gd name="adj1" fmla="val 1131323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FA06B41-8AF4-D039-7888-E3F6F1F9630C}"/>
              </a:ext>
            </a:extLst>
          </p:cNvPr>
          <p:cNvCxnSpPr>
            <a:cxnSpLocks/>
          </p:cNvCxnSpPr>
          <p:nvPr/>
        </p:nvCxnSpPr>
        <p:spPr>
          <a:xfrm>
            <a:off x="942629" y="1358900"/>
            <a:ext cx="7701382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5C2C179-30A0-6E46-DD58-0E919D572CC1}"/>
              </a:ext>
            </a:extLst>
          </p:cNvPr>
          <p:cNvSpPr/>
          <p:nvPr/>
        </p:nvSpPr>
        <p:spPr>
          <a:xfrm>
            <a:off x="148234" y="712069"/>
            <a:ext cx="21004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70799FE-8724-70ED-8BA7-4E8B929BD6BA}"/>
              </a:ext>
            </a:extLst>
          </p:cNvPr>
          <p:cNvSpPr/>
          <p:nvPr/>
        </p:nvSpPr>
        <p:spPr>
          <a:xfrm>
            <a:off x="-1" y="712069"/>
            <a:ext cx="8840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3823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9F894-24A1-DD36-9A47-3FC17D13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3B113F-658F-C6B1-7837-DE744C6AE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B9A05F-326C-3512-696A-FD9BBDAC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B2D31456-532A-6A64-CD3B-98BE7339E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DE2F-3944-93F9-923D-87A6591A1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dirty="0"/>
              <a:t>Choose &amp; Explore Dataset</a:t>
            </a:r>
          </a:p>
          <a:p>
            <a:r>
              <a:rPr lang="en-GB" sz="2200" dirty="0"/>
              <a:t>Data Preprocessing &amp; Annotation</a:t>
            </a:r>
          </a:p>
          <a:p>
            <a:r>
              <a:rPr lang="en-GB" sz="2200" b="1" dirty="0"/>
              <a:t>Train Object-detection</a:t>
            </a:r>
          </a:p>
          <a:p>
            <a:r>
              <a:rPr lang="en-GB" sz="2200" dirty="0"/>
              <a:t>Train Object-tracking</a:t>
            </a:r>
          </a:p>
          <a:p>
            <a:r>
              <a:rPr lang="en-GB" sz="2200" dirty="0"/>
              <a:t>Evaluate Model and create Statistics</a:t>
            </a:r>
          </a:p>
          <a:p>
            <a:r>
              <a:rPr lang="en-GB" sz="2200" dirty="0"/>
              <a:t>Visualize Result</a:t>
            </a:r>
            <a:endParaRPr lang="en-AT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1A83F-5B92-A138-A53B-ABFD08D7F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29AD7D-DDC0-2D38-F16B-344BACAE9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058139" y="3885085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2D8C33-B81A-A4A5-5C97-915C03D12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9" b="16234"/>
          <a:stretch>
            <a:fillRect/>
          </a:stretch>
        </p:blipFill>
        <p:spPr>
          <a:xfrm>
            <a:off x="9156700" y="4425028"/>
            <a:ext cx="2898488" cy="1868269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47B99977-0F62-CD0E-DA12-413488412A6E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849079" y="2440905"/>
            <a:ext cx="992972" cy="18953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FBA3EB5-B33B-3F01-B3B6-E53E7A02204B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183144" y="3002227"/>
            <a:ext cx="1532915" cy="131268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73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82BC-354D-3C45-109E-EE7D5D72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993A7-ECA4-EA55-F1DB-7B2F8B48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Train 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2C891-2E80-6CA0-9033-A1A02B0A4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850"/>
            <a:ext cx="10515600" cy="5041899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de-AT" b="1" dirty="0"/>
              <a:t>Goal: </a:t>
            </a:r>
            <a:r>
              <a:rPr lang="en-US" dirty="0"/>
              <a:t>detect animals reliably in thermal drone images </a:t>
            </a:r>
          </a:p>
          <a:p>
            <a:endParaRPr lang="en-US" dirty="0"/>
          </a:p>
          <a:p>
            <a:r>
              <a:rPr lang="en-US" dirty="0"/>
              <a:t>Tried YOLO11 with different YOLO checkpoints</a:t>
            </a:r>
          </a:p>
          <a:p>
            <a:r>
              <a:rPr lang="en-US" dirty="0"/>
              <a:t>Used YOLO26 with different YOLO checkpoints </a:t>
            </a:r>
            <a:br>
              <a:rPr lang="en-US" dirty="0"/>
            </a:br>
            <a:r>
              <a:rPr lang="en-US" dirty="0"/>
              <a:t>and parameter profiles (fast, balanced, quality) </a:t>
            </a:r>
          </a:p>
          <a:p>
            <a:r>
              <a:rPr lang="en-US" dirty="0"/>
              <a:t>Changed HSV_H/S to 0 due to thermal images </a:t>
            </a:r>
          </a:p>
          <a:p>
            <a:r>
              <a:rPr lang="en-US" dirty="0"/>
              <a:t>Used data augmentation parameter to make model more robust </a:t>
            </a:r>
          </a:p>
          <a:p>
            <a:pPr lvl="1"/>
            <a:r>
              <a:rPr lang="en-US" dirty="0"/>
              <a:t>Mosaic (combine 4 images into 1)</a:t>
            </a:r>
          </a:p>
          <a:p>
            <a:pPr lvl="1"/>
            <a:r>
              <a:rPr lang="en-US" dirty="0"/>
              <a:t>Erasing (rand remove image regions)</a:t>
            </a:r>
          </a:p>
          <a:p>
            <a:pPr lvl="1"/>
            <a:r>
              <a:rPr lang="en-US" dirty="0"/>
              <a:t>Degrees (rand rotation)</a:t>
            </a:r>
          </a:p>
          <a:p>
            <a:pPr lvl="1"/>
            <a:r>
              <a:rPr lang="en-US" dirty="0"/>
              <a:t>Translate (rand shifts)</a:t>
            </a:r>
          </a:p>
          <a:p>
            <a:pPr lvl="1"/>
            <a:r>
              <a:rPr lang="en-US" dirty="0"/>
              <a:t>Scale (rand zooms)</a:t>
            </a:r>
          </a:p>
          <a:p>
            <a:r>
              <a:rPr lang="en-US" dirty="0"/>
              <a:t>Retrained with older best weights  </a:t>
            </a:r>
          </a:p>
          <a:p>
            <a:r>
              <a:rPr lang="en-US" dirty="0"/>
              <a:t>Had multiple stages / different approaches of training –&gt; next slide </a:t>
            </a:r>
          </a:p>
          <a:p>
            <a:endParaRPr lang="en-US" dirty="0"/>
          </a:p>
          <a:p>
            <a:endParaRPr lang="en-US" dirty="0"/>
          </a:p>
          <a:p>
            <a:endParaRPr lang="en-AT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26A7FD-6CB8-9A6B-5467-4855CC4D407B}"/>
              </a:ext>
            </a:extLst>
          </p:cNvPr>
          <p:cNvCxnSpPr>
            <a:cxnSpLocks/>
          </p:cNvCxnSpPr>
          <p:nvPr/>
        </p:nvCxnSpPr>
        <p:spPr>
          <a:xfrm>
            <a:off x="942629" y="1358900"/>
            <a:ext cx="7701382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8A809C5-16FD-B21F-831A-F8ABC1B85190}"/>
              </a:ext>
            </a:extLst>
          </p:cNvPr>
          <p:cNvSpPr/>
          <p:nvPr/>
        </p:nvSpPr>
        <p:spPr>
          <a:xfrm>
            <a:off x="148234" y="712069"/>
            <a:ext cx="21004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6E0722-FC6C-2CA5-12A0-552FA2B41992}"/>
              </a:ext>
            </a:extLst>
          </p:cNvPr>
          <p:cNvSpPr/>
          <p:nvPr/>
        </p:nvSpPr>
        <p:spPr>
          <a:xfrm>
            <a:off x="-1" y="712069"/>
            <a:ext cx="8840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54EF24-D1AD-65EF-C784-EBAF94C82B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750"/>
          <a:stretch>
            <a:fillRect/>
          </a:stretch>
        </p:blipFill>
        <p:spPr>
          <a:xfrm>
            <a:off x="9796200" y="1335229"/>
            <a:ext cx="2395800" cy="451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61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7E5806-7A97-179A-A2BC-804F29464E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t="6953" b="3679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05685-11F6-DD44-99B0-98638908B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TRAINING APPROACHES</a:t>
            </a:r>
            <a:endParaRPr lang="en-AT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9F8F0F-7B99-765C-FEAF-E093238986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8737644"/>
              </p:ext>
            </p:extLst>
          </p:nvPr>
        </p:nvGraphicFramePr>
        <p:xfrm>
          <a:off x="908050" y="151447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8EABB3DE-E00C-C1AA-A407-370B630D3B80}"/>
              </a:ext>
            </a:extLst>
          </p:cNvPr>
          <p:cNvGrpSpPr/>
          <p:nvPr/>
        </p:nvGrpSpPr>
        <p:grpSpPr>
          <a:xfrm>
            <a:off x="90657" y="1984751"/>
            <a:ext cx="10441565" cy="520978"/>
            <a:chOff x="20807" y="2295901"/>
            <a:chExt cx="10441565" cy="52097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7C3D938-234F-9B3C-4A16-8F67BDF1D912}"/>
                </a:ext>
              </a:extLst>
            </p:cNvPr>
            <p:cNvGrpSpPr/>
            <p:nvPr/>
          </p:nvGrpSpPr>
          <p:grpSpPr>
            <a:xfrm>
              <a:off x="2100042" y="2295901"/>
              <a:ext cx="8362330" cy="520978"/>
              <a:chOff x="2100042" y="2295901"/>
              <a:chExt cx="8362330" cy="520978"/>
            </a:xfrm>
          </p:grpSpPr>
          <p:sp>
            <p:nvSpPr>
              <p:cNvPr id="9" name="Thought Bubble: Cloud 8">
                <a:extLst>
                  <a:ext uri="{FF2B5EF4-FFF2-40B4-BE49-F238E27FC236}">
                    <a16:creationId xmlns:a16="http://schemas.microsoft.com/office/drawing/2014/main" id="{8F7C3AC5-845A-54AE-89F7-38F28E9F138D}"/>
                  </a:ext>
                </a:extLst>
              </p:cNvPr>
              <p:cNvSpPr/>
              <p:nvPr/>
            </p:nvSpPr>
            <p:spPr>
              <a:xfrm>
                <a:off x="2100042" y="2295901"/>
                <a:ext cx="806450" cy="520978"/>
              </a:xfrm>
              <a:prstGeom prst="cloudCallout">
                <a:avLst>
                  <a:gd name="adj1" fmla="val -37368"/>
                  <a:gd name="adj2" fmla="val 86877"/>
                </a:avLst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/>
                  <a:t>2%</a:t>
                </a:r>
                <a:endParaRPr lang="en-AT" sz="1200"/>
              </a:p>
            </p:txBody>
          </p:sp>
          <p:sp>
            <p:nvSpPr>
              <p:cNvPr id="11" name="Thought Bubble: Cloud 10">
                <a:extLst>
                  <a:ext uri="{FF2B5EF4-FFF2-40B4-BE49-F238E27FC236}">
                    <a16:creationId xmlns:a16="http://schemas.microsoft.com/office/drawing/2014/main" id="{00717C66-AC4F-50E1-4249-E4F1EB0EDBCE}"/>
                  </a:ext>
                </a:extLst>
              </p:cNvPr>
              <p:cNvSpPr/>
              <p:nvPr/>
            </p:nvSpPr>
            <p:spPr>
              <a:xfrm>
                <a:off x="3587997" y="2295901"/>
                <a:ext cx="806450" cy="520978"/>
              </a:xfrm>
              <a:prstGeom prst="cloudCallout">
                <a:avLst>
                  <a:gd name="adj1" fmla="val -33431"/>
                  <a:gd name="adj2" fmla="val 92971"/>
                </a:avLst>
              </a:prstGeom>
              <a:solidFill>
                <a:srgbClr val="D23B18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/>
                  <a:t>3.5%</a:t>
                </a:r>
                <a:endParaRPr lang="en-AT" sz="1200"/>
              </a:p>
            </p:txBody>
          </p:sp>
          <p:sp>
            <p:nvSpPr>
              <p:cNvPr id="12" name="Thought Bubble: Cloud 11">
                <a:extLst>
                  <a:ext uri="{FF2B5EF4-FFF2-40B4-BE49-F238E27FC236}">
                    <a16:creationId xmlns:a16="http://schemas.microsoft.com/office/drawing/2014/main" id="{635064C3-FD69-C00A-9D8C-C50D82FD431D}"/>
                  </a:ext>
                </a:extLst>
              </p:cNvPr>
              <p:cNvSpPr/>
              <p:nvPr/>
            </p:nvSpPr>
            <p:spPr>
              <a:xfrm>
                <a:off x="5093447" y="2295901"/>
                <a:ext cx="806450" cy="520978"/>
              </a:xfrm>
              <a:prstGeom prst="cloudCallout">
                <a:avLst>
                  <a:gd name="adj1" fmla="val -31069"/>
                  <a:gd name="adj2" fmla="val 88096"/>
                </a:avLst>
              </a:prstGeom>
              <a:solidFill>
                <a:srgbClr val="E95F3F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/>
                  <a:t>6%</a:t>
                </a:r>
                <a:endParaRPr lang="en-AT" sz="1200"/>
              </a:p>
            </p:txBody>
          </p:sp>
          <p:sp>
            <p:nvSpPr>
              <p:cNvPr id="13" name="Thought Bubble: Cloud 12">
                <a:extLst>
                  <a:ext uri="{FF2B5EF4-FFF2-40B4-BE49-F238E27FC236}">
                    <a16:creationId xmlns:a16="http://schemas.microsoft.com/office/drawing/2014/main" id="{B792E0FC-1062-B291-FF81-6A3F3A7DC337}"/>
                  </a:ext>
                </a:extLst>
              </p:cNvPr>
              <p:cNvSpPr/>
              <p:nvPr/>
            </p:nvSpPr>
            <p:spPr>
              <a:xfrm>
                <a:off x="6608296" y="2295901"/>
                <a:ext cx="806450" cy="520978"/>
              </a:xfrm>
              <a:prstGeom prst="cloudCallout">
                <a:avLst>
                  <a:gd name="adj1" fmla="val -31069"/>
                  <a:gd name="adj2" fmla="val 89315"/>
                </a:avLst>
              </a:prstGeom>
              <a:solidFill>
                <a:srgbClr val="EE8268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/>
                  <a:t>8%</a:t>
                </a:r>
                <a:endParaRPr lang="en-AT" sz="1200"/>
              </a:p>
            </p:txBody>
          </p:sp>
          <p:sp>
            <p:nvSpPr>
              <p:cNvPr id="14" name="Thought Bubble: Cloud 13">
                <a:extLst>
                  <a:ext uri="{FF2B5EF4-FFF2-40B4-BE49-F238E27FC236}">
                    <a16:creationId xmlns:a16="http://schemas.microsoft.com/office/drawing/2014/main" id="{70B806B0-3AB8-4721-9DB0-501210953C73}"/>
                  </a:ext>
                </a:extLst>
              </p:cNvPr>
              <p:cNvSpPr/>
              <p:nvPr/>
            </p:nvSpPr>
            <p:spPr>
              <a:xfrm>
                <a:off x="8096250" y="2295901"/>
                <a:ext cx="806450" cy="520978"/>
              </a:xfrm>
              <a:prstGeom prst="cloudCallout">
                <a:avLst>
                  <a:gd name="adj1" fmla="val -32644"/>
                  <a:gd name="adj2" fmla="val 91753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/>
                  <a:t>35%</a:t>
                </a:r>
                <a:endParaRPr lang="en-AT" sz="1200"/>
              </a:p>
            </p:txBody>
          </p:sp>
          <p:sp>
            <p:nvSpPr>
              <p:cNvPr id="15" name="Thought Bubble: Cloud 14">
                <a:extLst>
                  <a:ext uri="{FF2B5EF4-FFF2-40B4-BE49-F238E27FC236}">
                    <a16:creationId xmlns:a16="http://schemas.microsoft.com/office/drawing/2014/main" id="{0985F3B0-760A-5274-2F0B-604026369EE5}"/>
                  </a:ext>
                </a:extLst>
              </p:cNvPr>
              <p:cNvSpPr/>
              <p:nvPr/>
            </p:nvSpPr>
            <p:spPr>
              <a:xfrm>
                <a:off x="9655922" y="2295901"/>
                <a:ext cx="806450" cy="520978"/>
              </a:xfrm>
              <a:prstGeom prst="cloudCallout">
                <a:avLst>
                  <a:gd name="adj1" fmla="val -29494"/>
                  <a:gd name="adj2" fmla="val 84439"/>
                </a:avLst>
              </a:prstGeom>
              <a:solidFill>
                <a:srgbClr val="92D050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GB" sz="1200">
                    <a:solidFill>
                      <a:srgbClr val="000000"/>
                    </a:solidFill>
                  </a:rPr>
                  <a:t>66</a:t>
                </a:r>
                <a:r>
                  <a:rPr lang="en-GB" sz="1200" dirty="0"/>
                  <a:t>%</a:t>
                </a:r>
                <a:endParaRPr lang="en-AT" sz="1200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42AD2DD-3CC4-6817-D9E4-EFAD3FBF024B}"/>
                </a:ext>
              </a:extLst>
            </p:cNvPr>
            <p:cNvSpPr txBox="1"/>
            <p:nvPr/>
          </p:nvSpPr>
          <p:spPr>
            <a:xfrm>
              <a:off x="20807" y="2402501"/>
              <a:ext cx="854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AT" sz="1400" b="1"/>
                <a:t>MAP-50:</a:t>
              </a:r>
              <a:endParaRPr lang="en-US" sz="1400" b="1"/>
            </a:p>
          </p:txBody>
        </p:sp>
      </p:grpSp>
      <p:pic>
        <p:nvPicPr>
          <p:cNvPr id="92" name="Picture 91">
            <a:extLst>
              <a:ext uri="{FF2B5EF4-FFF2-40B4-BE49-F238E27FC236}">
                <a16:creationId xmlns:a16="http://schemas.microsoft.com/office/drawing/2014/main" id="{327ABB62-4DBB-5FA8-05EE-8C7DD8AABE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1491" y="4990501"/>
            <a:ext cx="5781388" cy="1749715"/>
          </a:xfrm>
          <a:prstGeom prst="rect">
            <a:avLst/>
          </a:prstGeom>
        </p:spPr>
      </p:pic>
      <p:sp>
        <p:nvSpPr>
          <p:cNvPr id="715" name="Thought Bubble: Cloud 714">
            <a:extLst>
              <a:ext uri="{FF2B5EF4-FFF2-40B4-BE49-F238E27FC236}">
                <a16:creationId xmlns:a16="http://schemas.microsoft.com/office/drawing/2014/main" id="{CFE914B6-DF73-D7A9-1A1E-431519075110}"/>
              </a:ext>
            </a:extLst>
          </p:cNvPr>
          <p:cNvSpPr/>
          <p:nvPr/>
        </p:nvSpPr>
        <p:spPr>
          <a:xfrm>
            <a:off x="11222878" y="1984751"/>
            <a:ext cx="806450" cy="520978"/>
          </a:xfrm>
          <a:prstGeom prst="cloudCallout">
            <a:avLst>
              <a:gd name="adj1" fmla="val -29494"/>
              <a:gd name="adj2" fmla="val 84439"/>
            </a:avLst>
          </a:prstGeom>
          <a:solidFill>
            <a:srgbClr val="00B050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/>
              <a:t>70%</a:t>
            </a:r>
            <a:endParaRPr lang="en-US" sz="1200">
              <a:solidFill>
                <a:srgbClr val="EE82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510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6BD33-91FC-46DD-495F-B8D910EF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016B56-2F12-AC43-B19C-D0FBCAD7D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F246A-6B56-361C-B290-FB9548E6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366F1BC-1C16-2C50-B20C-EAAC54B7B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DF604-6507-90DD-B146-70790ACA8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dirty="0"/>
              <a:t>Choose &amp; Explore Dataset</a:t>
            </a:r>
          </a:p>
          <a:p>
            <a:r>
              <a:rPr lang="en-GB" sz="2200" dirty="0"/>
              <a:t>Data Preprocessing &amp; Annotation</a:t>
            </a:r>
          </a:p>
          <a:p>
            <a:r>
              <a:rPr lang="en-GB" sz="2200" dirty="0"/>
              <a:t>Train Object-detection</a:t>
            </a:r>
          </a:p>
          <a:p>
            <a:r>
              <a:rPr lang="en-GB" sz="2200" b="1" dirty="0"/>
              <a:t>Train Object-tracking</a:t>
            </a:r>
          </a:p>
          <a:p>
            <a:r>
              <a:rPr lang="en-GB" sz="2200" dirty="0"/>
              <a:t>Evaluate Model and create Statistics</a:t>
            </a:r>
          </a:p>
          <a:p>
            <a:r>
              <a:rPr lang="en-GB" sz="2200" dirty="0"/>
              <a:t>Visualize Result</a:t>
            </a:r>
            <a:endParaRPr lang="en-AT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DDAA71-E1E6-DC11-D31C-80D94959A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5D118A-F9F5-DFFF-C21B-867426A11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058139" y="3885085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6DED0B-94CA-3B75-42ED-51A649B877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9" b="16234"/>
          <a:stretch>
            <a:fillRect/>
          </a:stretch>
        </p:blipFill>
        <p:spPr>
          <a:xfrm>
            <a:off x="9156700" y="4425028"/>
            <a:ext cx="2898488" cy="1868269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AE88A0FB-BB6C-4F52-3A9D-14F9B59A2072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849079" y="2440905"/>
            <a:ext cx="992972" cy="18953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0B216065-EEDD-2F89-F58E-3CC806FA9E59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183144" y="3002227"/>
            <a:ext cx="1532915" cy="131268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6466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ACC9-D142-427E-3ED6-576D668DD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BD9E-3750-F456-F499-6867F6E4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Train Object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AC10-DF22-5F6D-2E69-8C48E5C6B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9198"/>
            <a:ext cx="109791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AT" b="1"/>
              <a:t>Goal: </a:t>
            </a:r>
            <a:r>
              <a:rPr lang="en-AT"/>
              <a:t>track detected animals across thermal drone image sequences</a:t>
            </a:r>
            <a:endParaRPr lang="de-AT"/>
          </a:p>
          <a:p>
            <a:r>
              <a:rPr lang="en-GB" sz="2000"/>
              <a:t>S</a:t>
            </a:r>
            <a:r>
              <a:rPr lang="en-AT" sz="2000" err="1"/>
              <a:t>tabilize</a:t>
            </a:r>
            <a:r>
              <a:rPr lang="en-GB" sz="2000"/>
              <a:t> images </a:t>
            </a:r>
            <a:r>
              <a:rPr lang="en-AT" sz="2000"/>
              <a:t>to compensate drone movement</a:t>
            </a:r>
            <a:r>
              <a:rPr lang="en-GB" sz="2000"/>
              <a:t> with selected reference frame</a:t>
            </a:r>
            <a:endParaRPr lang="en-AT" sz="2000"/>
          </a:p>
          <a:p>
            <a:r>
              <a:rPr lang="en-AT" sz="2000"/>
              <a:t>Detected image landmarks to estimate drone movement</a:t>
            </a:r>
            <a:r>
              <a:rPr lang="en-GB" sz="2000"/>
              <a:t> (5000 orb features)</a:t>
            </a:r>
          </a:p>
          <a:p>
            <a:r>
              <a:rPr lang="en-AT" sz="2000"/>
              <a:t>Applied transform smoothing to reduce </a:t>
            </a:r>
            <a:r>
              <a:rPr lang="en-GB" sz="2000"/>
              <a:t>trajectory noise</a:t>
            </a:r>
            <a:endParaRPr lang="en-AT" sz="2000"/>
          </a:p>
          <a:p>
            <a:r>
              <a:rPr lang="en-AT" sz="2000"/>
              <a:t>Used YOLO animal detector on stabilized frames</a:t>
            </a:r>
          </a:p>
          <a:p>
            <a:r>
              <a:rPr lang="en-AT" sz="2000"/>
              <a:t>Applied </a:t>
            </a:r>
            <a:r>
              <a:rPr lang="en-GB" sz="2000"/>
              <a:t>BOTSORT</a:t>
            </a:r>
            <a:r>
              <a:rPr lang="en-AT" sz="2000"/>
              <a:t> for assigning persistent animal IDs</a:t>
            </a:r>
          </a:p>
          <a:p>
            <a:r>
              <a:rPr lang="en-AT" sz="2000"/>
              <a:t>Generated trajectories based on bounding-box </a:t>
            </a:r>
            <a:r>
              <a:rPr lang="en-AT" sz="2000" err="1"/>
              <a:t>center</a:t>
            </a:r>
            <a:r>
              <a:rPr lang="en-AT" sz="2000"/>
              <a:t> points</a:t>
            </a:r>
          </a:p>
          <a:p>
            <a:pPr marL="0" indent="0">
              <a:buNone/>
            </a:pPr>
            <a:endParaRPr lang="de-AT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7071D6-5DF7-CBF1-3331-B28FEE97D051}"/>
              </a:ext>
            </a:extLst>
          </p:cNvPr>
          <p:cNvCxnSpPr>
            <a:cxnSpLocks/>
          </p:cNvCxnSpPr>
          <p:nvPr/>
        </p:nvCxnSpPr>
        <p:spPr>
          <a:xfrm>
            <a:off x="942629" y="1358900"/>
            <a:ext cx="7701382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06F7ECA-F870-0729-FDD4-D23148BBA123}"/>
              </a:ext>
            </a:extLst>
          </p:cNvPr>
          <p:cNvSpPr/>
          <p:nvPr/>
        </p:nvSpPr>
        <p:spPr>
          <a:xfrm>
            <a:off x="148234" y="712069"/>
            <a:ext cx="21004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49277D-80C4-FB4B-229B-B773EA898E46}"/>
              </a:ext>
            </a:extLst>
          </p:cNvPr>
          <p:cNvSpPr/>
          <p:nvPr/>
        </p:nvSpPr>
        <p:spPr>
          <a:xfrm>
            <a:off x="-1" y="712069"/>
            <a:ext cx="8840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A5E6C1-964A-1611-68F4-6A757FE01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4" b="34790"/>
          <a:stretch>
            <a:fillRect/>
          </a:stretch>
        </p:blipFill>
        <p:spPr>
          <a:xfrm>
            <a:off x="2305151" y="4564381"/>
            <a:ext cx="7581698" cy="208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35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F5803-3F63-A561-0293-901B83BB8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586A34-D0CA-AC5B-ECCD-C41619675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BA8B4-CF70-DCCF-799B-A6D01E23E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3845C35-EE7A-B5B8-4C42-2701E97F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0BCCC-1D4E-866B-7053-1E9B51390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dirty="0"/>
              <a:t>Choose &amp; Explore Dataset</a:t>
            </a:r>
          </a:p>
          <a:p>
            <a:r>
              <a:rPr lang="en-GB" sz="2200" dirty="0"/>
              <a:t>Data Preprocessing &amp; Annotation</a:t>
            </a:r>
          </a:p>
          <a:p>
            <a:r>
              <a:rPr lang="en-GB" sz="2200" dirty="0"/>
              <a:t>Train Object-detection</a:t>
            </a:r>
          </a:p>
          <a:p>
            <a:r>
              <a:rPr lang="en-GB" sz="2200" dirty="0"/>
              <a:t>Train Object-tracking</a:t>
            </a:r>
          </a:p>
          <a:p>
            <a:r>
              <a:rPr lang="en-GB" sz="2200" b="1" dirty="0"/>
              <a:t>Evaluate Model and create Statistics</a:t>
            </a:r>
          </a:p>
          <a:p>
            <a:r>
              <a:rPr lang="en-GB" sz="2200" dirty="0"/>
              <a:t>Visualize Result</a:t>
            </a:r>
            <a:endParaRPr lang="en-AT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E9105D-C51D-91AA-C5B6-E7549E41B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C46F31-8FA9-C02C-AD22-FEED8581E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058139" y="3885085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2B75F7-ECE0-1B28-485D-F10B683BE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9" b="16234"/>
          <a:stretch>
            <a:fillRect/>
          </a:stretch>
        </p:blipFill>
        <p:spPr>
          <a:xfrm>
            <a:off x="9156700" y="4425028"/>
            <a:ext cx="2898488" cy="1868269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7AAAA209-3E5C-9CB9-DF1A-A815EF072FFF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849079" y="2440905"/>
            <a:ext cx="992972" cy="18953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EA1451C3-555B-B7A3-312A-59ABC307030F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183144" y="3002227"/>
            <a:ext cx="1532915" cy="131268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30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5002B-649F-4470-3C04-B8C0C016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8644-0B21-697B-76B4-96EFA6E2F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5400"/>
              <a:t>Evaluate Model and create Statistics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C7D6D9-AC86-8B80-8116-7C4486FE8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042837"/>
              </p:ext>
            </p:extLst>
          </p:nvPr>
        </p:nvGraphicFramePr>
        <p:xfrm>
          <a:off x="636160" y="2309205"/>
          <a:ext cx="6413675" cy="320850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82735">
                  <a:extLst>
                    <a:ext uri="{9D8B030D-6E8A-4147-A177-3AD203B41FA5}">
                      <a16:colId xmlns:a16="http://schemas.microsoft.com/office/drawing/2014/main" val="38828070"/>
                    </a:ext>
                  </a:extLst>
                </a:gridCol>
                <a:gridCol w="1282735">
                  <a:extLst>
                    <a:ext uri="{9D8B030D-6E8A-4147-A177-3AD203B41FA5}">
                      <a16:colId xmlns:a16="http://schemas.microsoft.com/office/drawing/2014/main" val="3405651463"/>
                    </a:ext>
                  </a:extLst>
                </a:gridCol>
                <a:gridCol w="1282735">
                  <a:extLst>
                    <a:ext uri="{9D8B030D-6E8A-4147-A177-3AD203B41FA5}">
                      <a16:colId xmlns:a16="http://schemas.microsoft.com/office/drawing/2014/main" val="1982640132"/>
                    </a:ext>
                  </a:extLst>
                </a:gridCol>
                <a:gridCol w="1282735">
                  <a:extLst>
                    <a:ext uri="{9D8B030D-6E8A-4147-A177-3AD203B41FA5}">
                      <a16:colId xmlns:a16="http://schemas.microsoft.com/office/drawing/2014/main" val="519682781"/>
                    </a:ext>
                  </a:extLst>
                </a:gridCol>
                <a:gridCol w="1282735">
                  <a:extLst>
                    <a:ext uri="{9D8B030D-6E8A-4147-A177-3AD203B41FA5}">
                      <a16:colId xmlns:a16="http://schemas.microsoft.com/office/drawing/2014/main" val="1564635060"/>
                    </a:ext>
                  </a:extLst>
                </a:gridCol>
              </a:tblGrid>
              <a:tr h="534751">
                <a:tc>
                  <a:txBody>
                    <a:bodyPr/>
                    <a:lstStyle/>
                    <a:p>
                      <a:r>
                        <a:rPr lang="en-US"/>
                        <a:t>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Aptos"/>
                        </a:rPr>
                        <a:t>Box (P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mAP50-95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241967"/>
                  </a:ext>
                </a:extLst>
              </a:tr>
              <a:tr h="534751"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0.220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313074"/>
                  </a:ext>
                </a:extLst>
              </a:tr>
              <a:tr h="53475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0.584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0.663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0.224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773039"/>
                  </a:ext>
                </a:extLst>
              </a:tr>
              <a:tr h="53475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0.228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563493"/>
                  </a:ext>
                </a:extLst>
              </a:tr>
              <a:tr h="53475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0.216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137900"/>
                  </a:ext>
                </a:extLst>
              </a:tr>
              <a:tr h="53475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/>
                        <a:t>Best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0.652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0.709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0.247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232399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64E0EE4F-5E33-91CE-755E-0D95901DE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47" y="3516923"/>
            <a:ext cx="4155832" cy="2719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98CE04-5A0D-3B59-1F1E-137E7C9C9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147" y="562708"/>
            <a:ext cx="4155832" cy="271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54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360E7-80A8-954C-6D9B-7EC883DF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0BE48-332A-EE49-FF67-FA4F289E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544" y="-86759"/>
            <a:ext cx="12199088" cy="1325563"/>
          </a:xfrm>
        </p:spPr>
        <p:txBody>
          <a:bodyPr/>
          <a:lstStyle/>
          <a:p>
            <a:r>
              <a:rPr lang="en-GB" sz="3600"/>
              <a:t>   Ground Truth:        Prediction: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E2DD72-A816-D663-1A72-758A32D1C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54" y="1137138"/>
            <a:ext cx="5369170" cy="54629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43FD12-3F73-09C4-AFA2-80859C298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137139"/>
            <a:ext cx="5369169" cy="54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25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D2F4F-C9DF-3994-9A9A-6FCF848EA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2B2F2CC-05D5-8DF7-C143-2A20C2AED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0F99B-3D39-FC9A-CA55-DDF2A04B6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F10EBB1-D9C8-900A-5343-692E5DE49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2B08E-5910-2BA1-29FF-5B4374DC0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dirty="0"/>
              <a:t>Choose &amp; Explore Dataset</a:t>
            </a:r>
          </a:p>
          <a:p>
            <a:r>
              <a:rPr lang="en-GB" sz="2200" dirty="0"/>
              <a:t>Data Preprocessing &amp; Annotation</a:t>
            </a:r>
          </a:p>
          <a:p>
            <a:r>
              <a:rPr lang="en-GB" sz="2200" dirty="0"/>
              <a:t>Train Object-detection</a:t>
            </a:r>
          </a:p>
          <a:p>
            <a:r>
              <a:rPr lang="en-GB" sz="2200" dirty="0"/>
              <a:t>Train Object-tracking</a:t>
            </a:r>
          </a:p>
          <a:p>
            <a:r>
              <a:rPr lang="en-GB" sz="2200" dirty="0"/>
              <a:t>Evaluate Model and create Statistics</a:t>
            </a:r>
          </a:p>
          <a:p>
            <a:r>
              <a:rPr lang="en-GB" sz="2200" b="1" dirty="0"/>
              <a:t>Visualize Result</a:t>
            </a:r>
            <a:endParaRPr lang="en-AT" sz="2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6DE7C2-24B5-CA91-A5B4-C4396520E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AB49D2-AAAA-5A18-0F45-2BD6CFB35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058139" y="3885085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7C63C6-72D8-E453-E196-C6F591736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9" b="16234"/>
          <a:stretch>
            <a:fillRect/>
          </a:stretch>
        </p:blipFill>
        <p:spPr>
          <a:xfrm>
            <a:off x="9156700" y="4425028"/>
            <a:ext cx="2898488" cy="1868269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A26AF7B-9920-8479-72D7-2F8A5297E102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849079" y="2440905"/>
            <a:ext cx="992972" cy="18953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B39C858-F985-B695-AC4E-BA0CC16A192D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183144" y="3002227"/>
            <a:ext cx="1532915" cy="131268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666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97B53F-9DB5-3FA1-4745-3CCA256AC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422CDA3-97D1-1463-E7D0-B48A8C4DE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AEFCF-3EE7-BAC3-5948-1E9312C09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56" y="4699054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/>
              <a:t>Visualize Result - Detection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A9D6D9B-8EFA-32A4-8EA0-9898193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fik 2" descr="Ein Bild, das Text, Screenshot, Wolke, Natur enthält.&#10;&#10;KI-generierte Inhalte können fehlerhaft sein.">
            <a:extLst>
              <a:ext uri="{FF2B5EF4-FFF2-40B4-BE49-F238E27FC236}">
                <a16:creationId xmlns:a16="http://schemas.microsoft.com/office/drawing/2014/main" id="{9A81CB4E-8E26-1B11-2227-30DDDA459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923" y="263767"/>
            <a:ext cx="3878386" cy="3829540"/>
          </a:xfrm>
          <a:prstGeom prst="rect">
            <a:avLst/>
          </a:prstGeom>
        </p:spPr>
      </p:pic>
      <p:pic>
        <p:nvPicPr>
          <p:cNvPr id="5" name="Grafik 4" descr="Ein Bild, das Text, Screenshot, Natur, Krater enthält.&#10;&#10;KI-generierte Inhalte können fehlerhaft sein.">
            <a:extLst>
              <a:ext uri="{FF2B5EF4-FFF2-40B4-BE49-F238E27FC236}">
                <a16:creationId xmlns:a16="http://schemas.microsoft.com/office/drawing/2014/main" id="{2C0BCDB0-BB00-A489-CAA3-6B6A85A7B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461" y="263769"/>
            <a:ext cx="3829539" cy="3829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826066-D0F4-121D-FF14-7D52766AB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767"/>
            <a:ext cx="3829540" cy="382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171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7B1ECD-980D-6CA2-5806-71932E2E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2E3E6-9BCD-166F-F39C-57AC7B3B0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/>
              <a:t>Visualize Result - Tracking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FA836C-3C5E-E6FD-58F0-F923486F9B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02" r="-1" b="16257"/>
          <a:stretch>
            <a:fillRect/>
          </a:stretch>
        </p:blipFill>
        <p:spPr>
          <a:xfrm>
            <a:off x="320040" y="336007"/>
            <a:ext cx="5614416" cy="3863411"/>
          </a:xfrm>
          <a:prstGeom prst="rect">
            <a:avLst/>
          </a:prstGeom>
        </p:spPr>
      </p:pic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B8136F-E2BF-7693-1697-2F1D0267B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748673"/>
            <a:ext cx="6068906" cy="300410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1779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7D152E-61CF-3949-4754-AA759A76D3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05" r="-3" b="11924"/>
          <a:stretch>
            <a:fillRect/>
          </a:stretch>
        </p:blipFill>
        <p:spPr>
          <a:xfrm>
            <a:off x="1988934" y="643467"/>
            <a:ext cx="8214131" cy="5571065"/>
          </a:xfrm>
          <a:prstGeom prst="rect">
            <a:avLst/>
          </a:prstGeom>
          <a:ln>
            <a:noFill/>
          </a:ln>
        </p:spPr>
      </p:pic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84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ADB7A-D99A-3822-8F78-AAA105C7A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B9F00-F5E5-820D-DC80-79BAF341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Stabilized Video sequence with overlaid IDs</a:t>
            </a:r>
            <a:b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racking_overlay_video">
            <a:hlinkClick r:id="" action="ppaction://media"/>
            <a:extLst>
              <a:ext uri="{FF2B5EF4-FFF2-40B4-BE49-F238E27FC236}">
                <a16:creationId xmlns:a16="http://schemas.microsoft.com/office/drawing/2014/main" id="{D63CD0C4-544E-E150-7577-F7F508318F5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646968" y="391887"/>
            <a:ext cx="6009366" cy="6009366"/>
          </a:xfrm>
          <a:prstGeom prst="rect">
            <a:avLst/>
          </a:prstGeom>
          <a:ln w="107950" cap="rnd">
            <a:solidFill>
              <a:srgbClr val="C8C6BD"/>
            </a:solidFill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17145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269471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87BD87-A755-56AF-105C-7D88C54FC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79646-A326-D227-9226-72B6D0CC9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/>
              <a:t>Visualize Result – second Track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F91ECD-D9FE-3881-00B5-B8F29C8E9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2" b="11997"/>
          <a:stretch>
            <a:fillRect/>
          </a:stretch>
        </p:blipFill>
        <p:spPr>
          <a:xfrm>
            <a:off x="320040" y="334300"/>
            <a:ext cx="5614416" cy="38668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F12655-1253-579D-CE1A-6A7866CD6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878144"/>
            <a:ext cx="5614416" cy="2779135"/>
          </a:xfrm>
          <a:prstGeom prst="rect">
            <a:avLst/>
          </a:prstGeom>
        </p:spPr>
      </p:pic>
      <p:sp>
        <p:nvSpPr>
          <p:cNvPr id="2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9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507D45-C445-5AF2-A2AB-644E9F075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93" b="6090"/>
          <a:stretch>
            <a:fillRect/>
          </a:stretch>
        </p:blipFill>
        <p:spPr>
          <a:xfrm>
            <a:off x="1570756" y="643467"/>
            <a:ext cx="9050488" cy="5571065"/>
          </a:xfrm>
          <a:prstGeom prst="rect">
            <a:avLst/>
          </a:prstGeom>
          <a:ln>
            <a:noFill/>
          </a:ln>
        </p:spPr>
      </p:pic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962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59237-F57B-B130-4602-9420589C2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32" y="1295231"/>
            <a:ext cx="5895178" cy="38074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for your attention!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082" y="0"/>
            <a:ext cx="4884918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80" y="5439978"/>
            <a:ext cx="5897880" cy="18288"/>
          </a:xfrm>
          <a:custGeom>
            <a:avLst/>
            <a:gdLst>
              <a:gd name="csX0" fmla="*/ 0 w 5897880"/>
              <a:gd name="csY0" fmla="*/ 0 h 18288"/>
              <a:gd name="csX1" fmla="*/ 537362 w 5897880"/>
              <a:gd name="csY1" fmla="*/ 0 h 18288"/>
              <a:gd name="csX2" fmla="*/ 1133704 w 5897880"/>
              <a:gd name="csY2" fmla="*/ 0 h 18288"/>
              <a:gd name="csX3" fmla="*/ 1671066 w 5897880"/>
              <a:gd name="csY3" fmla="*/ 0 h 18288"/>
              <a:gd name="csX4" fmla="*/ 2385365 w 5897880"/>
              <a:gd name="csY4" fmla="*/ 0 h 18288"/>
              <a:gd name="csX5" fmla="*/ 3040685 w 5897880"/>
              <a:gd name="csY5" fmla="*/ 0 h 18288"/>
              <a:gd name="csX6" fmla="*/ 3696005 w 5897880"/>
              <a:gd name="csY6" fmla="*/ 0 h 18288"/>
              <a:gd name="csX7" fmla="*/ 4469282 w 5897880"/>
              <a:gd name="csY7" fmla="*/ 0 h 18288"/>
              <a:gd name="csX8" fmla="*/ 5183581 w 5897880"/>
              <a:gd name="csY8" fmla="*/ 0 h 18288"/>
              <a:gd name="csX9" fmla="*/ 5897880 w 5897880"/>
              <a:gd name="csY9" fmla="*/ 0 h 18288"/>
              <a:gd name="csX10" fmla="*/ 5897880 w 5897880"/>
              <a:gd name="csY10" fmla="*/ 18288 h 18288"/>
              <a:gd name="csX11" fmla="*/ 5419496 w 5897880"/>
              <a:gd name="csY11" fmla="*/ 18288 h 18288"/>
              <a:gd name="csX12" fmla="*/ 4882134 w 5897880"/>
              <a:gd name="csY12" fmla="*/ 18288 h 18288"/>
              <a:gd name="csX13" fmla="*/ 4167835 w 5897880"/>
              <a:gd name="csY13" fmla="*/ 18288 h 18288"/>
              <a:gd name="csX14" fmla="*/ 3394558 w 5897880"/>
              <a:gd name="csY14" fmla="*/ 18288 h 18288"/>
              <a:gd name="csX15" fmla="*/ 2798216 w 5897880"/>
              <a:gd name="csY15" fmla="*/ 18288 h 18288"/>
              <a:gd name="csX16" fmla="*/ 2024939 w 5897880"/>
              <a:gd name="csY16" fmla="*/ 18288 h 18288"/>
              <a:gd name="csX17" fmla="*/ 1487576 w 5897880"/>
              <a:gd name="csY17" fmla="*/ 18288 h 18288"/>
              <a:gd name="csX18" fmla="*/ 1009193 w 5897880"/>
              <a:gd name="csY18" fmla="*/ 18288 h 18288"/>
              <a:gd name="csX19" fmla="*/ 0 w 5897880"/>
              <a:gd name="csY19" fmla="*/ 18288 h 18288"/>
              <a:gd name="csX20" fmla="*/ 0 w 5897880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897880" h="18288" fill="none" extrusionOk="0">
                <a:moveTo>
                  <a:pt x="0" y="0"/>
                </a:moveTo>
                <a:cubicBezTo>
                  <a:pt x="232564" y="21549"/>
                  <a:pt x="389747" y="7320"/>
                  <a:pt x="537362" y="0"/>
                </a:cubicBezTo>
                <a:cubicBezTo>
                  <a:pt x="684977" y="-7320"/>
                  <a:pt x="894159" y="-7726"/>
                  <a:pt x="1133704" y="0"/>
                </a:cubicBezTo>
                <a:cubicBezTo>
                  <a:pt x="1373249" y="7726"/>
                  <a:pt x="1440352" y="-304"/>
                  <a:pt x="1671066" y="0"/>
                </a:cubicBezTo>
                <a:cubicBezTo>
                  <a:pt x="1901780" y="304"/>
                  <a:pt x="2091497" y="765"/>
                  <a:pt x="2385365" y="0"/>
                </a:cubicBezTo>
                <a:cubicBezTo>
                  <a:pt x="2679233" y="-765"/>
                  <a:pt x="2762926" y="2802"/>
                  <a:pt x="3040685" y="0"/>
                </a:cubicBezTo>
                <a:cubicBezTo>
                  <a:pt x="3318444" y="-2802"/>
                  <a:pt x="3409726" y="9093"/>
                  <a:pt x="3696005" y="0"/>
                </a:cubicBezTo>
                <a:cubicBezTo>
                  <a:pt x="3982284" y="-9093"/>
                  <a:pt x="4087272" y="27119"/>
                  <a:pt x="4469282" y="0"/>
                </a:cubicBezTo>
                <a:cubicBezTo>
                  <a:pt x="4851292" y="-27119"/>
                  <a:pt x="4924835" y="26473"/>
                  <a:pt x="5183581" y="0"/>
                </a:cubicBezTo>
                <a:cubicBezTo>
                  <a:pt x="5442327" y="-26473"/>
                  <a:pt x="5598463" y="7328"/>
                  <a:pt x="5897880" y="0"/>
                </a:cubicBezTo>
                <a:cubicBezTo>
                  <a:pt x="5898259" y="7355"/>
                  <a:pt x="5898164" y="10249"/>
                  <a:pt x="5897880" y="18288"/>
                </a:cubicBezTo>
                <a:cubicBezTo>
                  <a:pt x="5682742" y="31268"/>
                  <a:pt x="5520014" y="14700"/>
                  <a:pt x="5419496" y="18288"/>
                </a:cubicBezTo>
                <a:cubicBezTo>
                  <a:pt x="5318978" y="21876"/>
                  <a:pt x="5012864" y="-2446"/>
                  <a:pt x="4882134" y="18288"/>
                </a:cubicBezTo>
                <a:cubicBezTo>
                  <a:pt x="4751404" y="39022"/>
                  <a:pt x="4313676" y="-3937"/>
                  <a:pt x="4167835" y="18288"/>
                </a:cubicBezTo>
                <a:cubicBezTo>
                  <a:pt x="4021994" y="40513"/>
                  <a:pt x="3715729" y="50049"/>
                  <a:pt x="3394558" y="18288"/>
                </a:cubicBezTo>
                <a:cubicBezTo>
                  <a:pt x="3073387" y="-13473"/>
                  <a:pt x="3093227" y="29828"/>
                  <a:pt x="2798216" y="18288"/>
                </a:cubicBezTo>
                <a:cubicBezTo>
                  <a:pt x="2503205" y="6748"/>
                  <a:pt x="2297615" y="22459"/>
                  <a:pt x="2024939" y="18288"/>
                </a:cubicBezTo>
                <a:cubicBezTo>
                  <a:pt x="1752263" y="14117"/>
                  <a:pt x="1629814" y="-5485"/>
                  <a:pt x="1487576" y="18288"/>
                </a:cubicBezTo>
                <a:cubicBezTo>
                  <a:pt x="1345338" y="42061"/>
                  <a:pt x="1238885" y="15810"/>
                  <a:pt x="1009193" y="18288"/>
                </a:cubicBezTo>
                <a:cubicBezTo>
                  <a:pt x="779501" y="20766"/>
                  <a:pt x="441829" y="-24679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5897880" h="18288" stroke="0" extrusionOk="0">
                <a:moveTo>
                  <a:pt x="0" y="0"/>
                </a:moveTo>
                <a:cubicBezTo>
                  <a:pt x="196299" y="-26676"/>
                  <a:pt x="463834" y="6738"/>
                  <a:pt x="596341" y="0"/>
                </a:cubicBezTo>
                <a:cubicBezTo>
                  <a:pt x="728848" y="-6738"/>
                  <a:pt x="857267" y="1845"/>
                  <a:pt x="1074725" y="0"/>
                </a:cubicBezTo>
                <a:cubicBezTo>
                  <a:pt x="1292183" y="-1845"/>
                  <a:pt x="1545672" y="3744"/>
                  <a:pt x="1848002" y="0"/>
                </a:cubicBezTo>
                <a:cubicBezTo>
                  <a:pt x="2150332" y="-3744"/>
                  <a:pt x="2306688" y="-14526"/>
                  <a:pt x="2444344" y="0"/>
                </a:cubicBezTo>
                <a:cubicBezTo>
                  <a:pt x="2582000" y="14526"/>
                  <a:pt x="2761095" y="-11862"/>
                  <a:pt x="3040685" y="0"/>
                </a:cubicBezTo>
                <a:cubicBezTo>
                  <a:pt x="3320275" y="11862"/>
                  <a:pt x="3622320" y="-32867"/>
                  <a:pt x="3813962" y="0"/>
                </a:cubicBezTo>
                <a:cubicBezTo>
                  <a:pt x="4005604" y="32867"/>
                  <a:pt x="4117810" y="-10778"/>
                  <a:pt x="4351325" y="0"/>
                </a:cubicBezTo>
                <a:cubicBezTo>
                  <a:pt x="4584840" y="10778"/>
                  <a:pt x="4963783" y="-32384"/>
                  <a:pt x="5124602" y="0"/>
                </a:cubicBezTo>
                <a:cubicBezTo>
                  <a:pt x="5285421" y="32384"/>
                  <a:pt x="5705238" y="-29538"/>
                  <a:pt x="5897880" y="0"/>
                </a:cubicBezTo>
                <a:cubicBezTo>
                  <a:pt x="5898220" y="5688"/>
                  <a:pt x="5897711" y="13142"/>
                  <a:pt x="5897880" y="18288"/>
                </a:cubicBezTo>
                <a:cubicBezTo>
                  <a:pt x="5630425" y="-1425"/>
                  <a:pt x="5532865" y="12244"/>
                  <a:pt x="5242560" y="18288"/>
                </a:cubicBezTo>
                <a:cubicBezTo>
                  <a:pt x="4952255" y="24332"/>
                  <a:pt x="4783060" y="5748"/>
                  <a:pt x="4646219" y="18288"/>
                </a:cubicBezTo>
                <a:cubicBezTo>
                  <a:pt x="4509378" y="30828"/>
                  <a:pt x="4163771" y="-13995"/>
                  <a:pt x="3872941" y="18288"/>
                </a:cubicBezTo>
                <a:cubicBezTo>
                  <a:pt x="3582111" y="50571"/>
                  <a:pt x="3362704" y="-1402"/>
                  <a:pt x="3099664" y="18288"/>
                </a:cubicBezTo>
                <a:cubicBezTo>
                  <a:pt x="2836624" y="37978"/>
                  <a:pt x="2747441" y="19657"/>
                  <a:pt x="2562301" y="18288"/>
                </a:cubicBezTo>
                <a:cubicBezTo>
                  <a:pt x="2377161" y="16919"/>
                  <a:pt x="2104946" y="21735"/>
                  <a:pt x="1906981" y="18288"/>
                </a:cubicBezTo>
                <a:cubicBezTo>
                  <a:pt x="1709016" y="14841"/>
                  <a:pt x="1304654" y="-2323"/>
                  <a:pt x="1133704" y="18288"/>
                </a:cubicBezTo>
                <a:cubicBezTo>
                  <a:pt x="962754" y="38899"/>
                  <a:pt x="457048" y="2985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sX0" fmla="*/ 0 w 3479619"/>
              <a:gd name="csY0" fmla="*/ 0 h 18288"/>
              <a:gd name="csX1" fmla="*/ 661128 w 3479619"/>
              <a:gd name="csY1" fmla="*/ 0 h 18288"/>
              <a:gd name="csX2" fmla="*/ 1357051 w 3479619"/>
              <a:gd name="csY2" fmla="*/ 0 h 18288"/>
              <a:gd name="csX3" fmla="*/ 2087771 w 3479619"/>
              <a:gd name="csY3" fmla="*/ 0 h 18288"/>
              <a:gd name="csX4" fmla="*/ 2818491 w 3479619"/>
              <a:gd name="csY4" fmla="*/ 0 h 18288"/>
              <a:gd name="csX5" fmla="*/ 3479619 w 3479619"/>
              <a:gd name="csY5" fmla="*/ 0 h 18288"/>
              <a:gd name="csX6" fmla="*/ 3479619 w 3479619"/>
              <a:gd name="csY6" fmla="*/ 18288 h 18288"/>
              <a:gd name="csX7" fmla="*/ 2714103 w 3479619"/>
              <a:gd name="csY7" fmla="*/ 18288 h 18288"/>
              <a:gd name="csX8" fmla="*/ 1948587 w 3479619"/>
              <a:gd name="csY8" fmla="*/ 18288 h 18288"/>
              <a:gd name="csX9" fmla="*/ 1252663 w 3479619"/>
              <a:gd name="csY9" fmla="*/ 18288 h 18288"/>
              <a:gd name="csX10" fmla="*/ 0 w 3479619"/>
              <a:gd name="csY10" fmla="*/ 18288 h 18288"/>
              <a:gd name="csX11" fmla="*/ 0 w 3479619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2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c9e71c-1a25-473c-9bae-02ec0a5e4ef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214458EF7BD3048BEB71791FF1FFB03" ma:contentTypeVersion="11" ma:contentTypeDescription="Ein neues Dokument erstellen." ma:contentTypeScope="" ma:versionID="29c97144edcbb71b9e6f3652f68628c1">
  <xsd:schema xmlns:xsd="http://www.w3.org/2001/XMLSchema" xmlns:xs="http://www.w3.org/2001/XMLSchema" xmlns:p="http://schemas.microsoft.com/office/2006/metadata/properties" xmlns:ns3="12c9e71c-1a25-473c-9bae-02ec0a5e4ef8" targetNamespace="http://schemas.microsoft.com/office/2006/metadata/properties" ma:root="true" ma:fieldsID="84b56bd0a2c30745eab2e9a18d4291b9" ns3:_="">
    <xsd:import namespace="12c9e71c-1a25-473c-9bae-02ec0a5e4ef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9e71c-1a25-473c-9bae-02ec0a5e4ef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5237FB-BD30-4630-8488-9496898593D5}">
  <ds:schemaRefs>
    <ds:schemaRef ds:uri="http://purl.org/dc/elements/1.1/"/>
    <ds:schemaRef ds:uri="http://purl.org/dc/dcmitype/"/>
    <ds:schemaRef ds:uri="12c9e71c-1a25-473c-9bae-02ec0a5e4ef8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33B0583-F9AB-4319-812C-6227E6A558F3}">
  <ds:schemaRefs>
    <ds:schemaRef ds:uri="12c9e71c-1a25-473c-9bae-02ec0a5e4e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064AC1E-F169-4309-81DE-03658C678C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714</Words>
  <Application>Microsoft Office PowerPoint</Application>
  <PresentationFormat>Widescreen</PresentationFormat>
  <Paragraphs>181</Paragraphs>
  <Slides>26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Courier New</vt:lpstr>
      <vt:lpstr>Wingdings</vt:lpstr>
      <vt:lpstr>Office Theme</vt:lpstr>
      <vt:lpstr>Project Presentation</vt:lpstr>
      <vt:lpstr>Members of FLYING HIRSCH</vt:lpstr>
      <vt:lpstr>Task</vt:lpstr>
      <vt:lpstr>Approach - Overview</vt:lpstr>
      <vt:lpstr>Dataset - ALFS</vt:lpstr>
      <vt:lpstr>Dataset: Matched Frames Subset of the BAMBI UAV Wildlife Dataset</vt:lpstr>
      <vt:lpstr>Explore Dataset</vt:lpstr>
      <vt:lpstr>Approach - Overview</vt:lpstr>
      <vt:lpstr>Data Preprocessing &amp; Annotation</vt:lpstr>
      <vt:lpstr>Data Preprocessing &amp; Annotation</vt:lpstr>
      <vt:lpstr>Approach - Overview</vt:lpstr>
      <vt:lpstr>Train Object detection</vt:lpstr>
      <vt:lpstr>TRAINING APPROACHES</vt:lpstr>
      <vt:lpstr>Approach - Overview</vt:lpstr>
      <vt:lpstr>Train Object Tracking</vt:lpstr>
      <vt:lpstr>Approach - Overview</vt:lpstr>
      <vt:lpstr>Evaluate Model and create Statistics</vt:lpstr>
      <vt:lpstr>   Ground Truth:        Prediction:</vt:lpstr>
      <vt:lpstr>Approach - Overview</vt:lpstr>
      <vt:lpstr>Visualize Result - Detection</vt:lpstr>
      <vt:lpstr>Visualize Result - Tracking</vt:lpstr>
      <vt:lpstr>PowerPoint Presentation</vt:lpstr>
      <vt:lpstr>Stabilized Video sequence with overlaid IDs </vt:lpstr>
      <vt:lpstr>Visualize Result – second Track</vt:lpstr>
      <vt:lpstr>PowerPoint Presentation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 Schlosser</dc:creator>
  <cp:lastModifiedBy>Schlosser Lorenz - s2410929028</cp:lastModifiedBy>
  <cp:revision>78</cp:revision>
  <dcterms:created xsi:type="dcterms:W3CDTF">2026-06-11T21:38:27Z</dcterms:created>
  <dcterms:modified xsi:type="dcterms:W3CDTF">2026-06-22T15:02:07Z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0x0101009214458EF7BD3048BEB71791FF1FFB03</vt:lpwstr>
  </property>
</Properties>
</file>